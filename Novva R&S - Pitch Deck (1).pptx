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ink/ink1.xml" ContentType="application/inkml+xml"/>
  <Override PartName="/ppt/ink/ink2.xml" ContentType="application/inkml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67" r:id="rId2"/>
    <p:sldId id="258" r:id="rId3"/>
    <p:sldId id="266" r:id="rId4"/>
    <p:sldId id="268" r:id="rId5"/>
    <p:sldId id="270" r:id="rId6"/>
    <p:sldId id="269" r:id="rId7"/>
    <p:sldId id="271" r:id="rId8"/>
    <p:sldId id="274" r:id="rId9"/>
    <p:sldId id="275" r:id="rId10"/>
    <p:sldId id="272" r:id="rId11"/>
    <p:sldId id="276" r:id="rId12"/>
    <p:sldId id="277" r:id="rId13"/>
    <p:sldId id="278" r:id="rId1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00"/>
    <a:srgbClr val="669900"/>
    <a:srgbClr val="003300"/>
    <a:srgbClr val="33CCFF"/>
    <a:srgbClr val="008A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6247" autoAdjust="0"/>
  </p:normalViewPr>
  <p:slideViewPr>
    <p:cSldViewPr snapToGrid="0">
      <p:cViewPr varScale="1">
        <p:scale>
          <a:sx n="103" d="100"/>
          <a:sy n="103" d="100"/>
        </p:scale>
        <p:origin x="82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C5C4643-1C6C-412E-ADBC-32B70A08FC93}" type="doc">
      <dgm:prSet loTypeId="urn:microsoft.com/office/officeart/2005/8/layout/cycle1" loCatId="cycle" qsTypeId="urn:microsoft.com/office/officeart/2005/8/quickstyle/3d4" qsCatId="3D" csTypeId="urn:microsoft.com/office/officeart/2005/8/colors/accent0_1" csCatId="mainScheme" phldr="1"/>
      <dgm:spPr/>
      <dgm:t>
        <a:bodyPr/>
        <a:lstStyle/>
        <a:p>
          <a:endParaRPr lang="pt-BR"/>
        </a:p>
      </dgm:t>
    </dgm:pt>
    <dgm:pt modelId="{5CF91FB1-5F45-4B1D-894C-3765E46B4FF0}">
      <dgm:prSet phldrT="[Texto]" phldr="0"/>
      <dgm:spPr/>
      <dgm:t>
        <a:bodyPr/>
        <a:lstStyle/>
        <a:p>
          <a:r>
            <a:rPr lang="pt-BR" dirty="0"/>
            <a:t> </a:t>
          </a:r>
        </a:p>
      </dgm:t>
    </dgm:pt>
    <dgm:pt modelId="{8C914A30-B33A-4509-B455-D51DEFF7DB4F}" type="parTrans" cxnId="{02D4BDDA-F66B-4C91-A0BD-E4AC50E42DF3}">
      <dgm:prSet/>
      <dgm:spPr/>
      <dgm:t>
        <a:bodyPr/>
        <a:lstStyle/>
        <a:p>
          <a:endParaRPr lang="pt-BR"/>
        </a:p>
      </dgm:t>
    </dgm:pt>
    <dgm:pt modelId="{1730F7B2-B67A-4DC6-8291-9695A7E1E3CF}" type="sibTrans" cxnId="{02D4BDDA-F66B-4C91-A0BD-E4AC50E42DF3}">
      <dgm:prSet/>
      <dgm:spPr/>
      <dgm:t>
        <a:bodyPr/>
        <a:lstStyle/>
        <a:p>
          <a:endParaRPr lang="pt-BR"/>
        </a:p>
      </dgm:t>
    </dgm:pt>
    <dgm:pt modelId="{363E7749-B696-4622-90E2-587F4A9F8B3C}">
      <dgm:prSet phldrT="[Texto]" phldr="0"/>
      <dgm:spPr/>
      <dgm:t>
        <a:bodyPr/>
        <a:lstStyle/>
        <a:p>
          <a:endParaRPr lang="pt-BR" dirty="0"/>
        </a:p>
      </dgm:t>
    </dgm:pt>
    <dgm:pt modelId="{164FB097-379D-4BA4-B740-AC617FACDC94}" type="parTrans" cxnId="{A2E3BE35-3EF1-4343-95D1-C665884015F0}">
      <dgm:prSet/>
      <dgm:spPr/>
      <dgm:t>
        <a:bodyPr/>
        <a:lstStyle/>
        <a:p>
          <a:endParaRPr lang="pt-BR"/>
        </a:p>
      </dgm:t>
    </dgm:pt>
    <dgm:pt modelId="{F92381A8-3F07-42F4-803A-1B24C5303B9B}" type="sibTrans" cxnId="{A2E3BE35-3EF1-4343-95D1-C665884015F0}">
      <dgm:prSet/>
      <dgm:spPr/>
      <dgm:t>
        <a:bodyPr/>
        <a:lstStyle/>
        <a:p>
          <a:endParaRPr lang="pt-BR"/>
        </a:p>
      </dgm:t>
    </dgm:pt>
    <dgm:pt modelId="{5E74F9A6-8D50-494A-88A8-BCD4019800A3}">
      <dgm:prSet phldrT="[Texto]" phldr="0"/>
      <dgm:spPr/>
      <dgm:t>
        <a:bodyPr/>
        <a:lstStyle/>
        <a:p>
          <a:endParaRPr lang="pt-BR" dirty="0"/>
        </a:p>
      </dgm:t>
    </dgm:pt>
    <dgm:pt modelId="{07D6597E-36E0-4EF6-913D-2A487C407712}" type="parTrans" cxnId="{60248484-745B-4DA0-BC86-1F13CFE8A1AA}">
      <dgm:prSet/>
      <dgm:spPr/>
      <dgm:t>
        <a:bodyPr/>
        <a:lstStyle/>
        <a:p>
          <a:endParaRPr lang="pt-BR"/>
        </a:p>
      </dgm:t>
    </dgm:pt>
    <dgm:pt modelId="{C03805D5-EA2E-44FF-B3E8-628B942F9B63}" type="sibTrans" cxnId="{60248484-745B-4DA0-BC86-1F13CFE8A1AA}">
      <dgm:prSet/>
      <dgm:spPr/>
      <dgm:t>
        <a:bodyPr/>
        <a:lstStyle/>
        <a:p>
          <a:endParaRPr lang="pt-BR"/>
        </a:p>
      </dgm:t>
    </dgm:pt>
    <dgm:pt modelId="{EA2C8ECF-12D7-44A4-89B4-054B85616010}">
      <dgm:prSet phldrT="[Texto]" phldr="0"/>
      <dgm:spPr/>
      <dgm:t>
        <a:bodyPr/>
        <a:lstStyle/>
        <a:p>
          <a:endParaRPr lang="pt-BR" dirty="0"/>
        </a:p>
      </dgm:t>
    </dgm:pt>
    <dgm:pt modelId="{CF24B3EC-0FD3-458F-93DB-C5A5BB9E6644}" type="parTrans" cxnId="{B895ACF2-A24E-4550-9D6F-5FA93A30C453}">
      <dgm:prSet/>
      <dgm:spPr/>
      <dgm:t>
        <a:bodyPr/>
        <a:lstStyle/>
        <a:p>
          <a:endParaRPr lang="pt-BR"/>
        </a:p>
      </dgm:t>
    </dgm:pt>
    <dgm:pt modelId="{8487DEFA-277C-4F4F-91A3-4690B70EF3BD}" type="sibTrans" cxnId="{B895ACF2-A24E-4550-9D6F-5FA93A30C453}">
      <dgm:prSet/>
      <dgm:spPr/>
      <dgm:t>
        <a:bodyPr/>
        <a:lstStyle/>
        <a:p>
          <a:endParaRPr lang="pt-BR"/>
        </a:p>
      </dgm:t>
    </dgm:pt>
    <dgm:pt modelId="{DB251FF9-AB05-40E5-B26F-CFB739623E96}">
      <dgm:prSet phldrT="[Texto]" phldr="0"/>
      <dgm:spPr/>
      <dgm:t>
        <a:bodyPr/>
        <a:lstStyle/>
        <a:p>
          <a:endParaRPr lang="pt-BR" dirty="0"/>
        </a:p>
      </dgm:t>
    </dgm:pt>
    <dgm:pt modelId="{2B4F6E5C-6E92-4CDD-BB32-C04DA23D8376}" type="parTrans" cxnId="{1DB9DC9F-B97D-4420-8AE1-9291EE75516D}">
      <dgm:prSet/>
      <dgm:spPr/>
      <dgm:t>
        <a:bodyPr/>
        <a:lstStyle/>
        <a:p>
          <a:endParaRPr lang="pt-BR"/>
        </a:p>
      </dgm:t>
    </dgm:pt>
    <dgm:pt modelId="{F620F8B2-73D7-4EBA-8320-A8D1839AD980}" type="sibTrans" cxnId="{1DB9DC9F-B97D-4420-8AE1-9291EE75516D}">
      <dgm:prSet/>
      <dgm:spPr/>
      <dgm:t>
        <a:bodyPr/>
        <a:lstStyle/>
        <a:p>
          <a:endParaRPr lang="pt-BR"/>
        </a:p>
      </dgm:t>
    </dgm:pt>
    <dgm:pt modelId="{0E2B25F2-FFAE-41A5-98BB-F2EC09CDF405}" type="pres">
      <dgm:prSet presAssocID="{BC5C4643-1C6C-412E-ADBC-32B70A08FC93}" presName="cycle" presStyleCnt="0">
        <dgm:presLayoutVars>
          <dgm:dir/>
          <dgm:resizeHandles val="exact"/>
        </dgm:presLayoutVars>
      </dgm:prSet>
      <dgm:spPr/>
    </dgm:pt>
    <dgm:pt modelId="{06587921-553A-45FD-9D29-5B3A77FBA3AC}" type="pres">
      <dgm:prSet presAssocID="{5CF91FB1-5F45-4B1D-894C-3765E46B4FF0}" presName="dummy" presStyleCnt="0"/>
      <dgm:spPr/>
    </dgm:pt>
    <dgm:pt modelId="{86D840C4-898D-400D-A5AA-C5D1B6ABFCCA}" type="pres">
      <dgm:prSet presAssocID="{5CF91FB1-5F45-4B1D-894C-3765E46B4FF0}" presName="node" presStyleLbl="revTx" presStyleIdx="0" presStyleCnt="5">
        <dgm:presLayoutVars>
          <dgm:bulletEnabled val="1"/>
        </dgm:presLayoutVars>
      </dgm:prSet>
      <dgm:spPr/>
    </dgm:pt>
    <dgm:pt modelId="{27B2B74E-5FF7-4229-BF46-665B1F468277}" type="pres">
      <dgm:prSet presAssocID="{1730F7B2-B67A-4DC6-8291-9695A7E1E3CF}" presName="sibTrans" presStyleLbl="node1" presStyleIdx="0" presStyleCnt="5"/>
      <dgm:spPr/>
    </dgm:pt>
    <dgm:pt modelId="{916F9320-97A2-4D6F-93E0-BFD961875CF1}" type="pres">
      <dgm:prSet presAssocID="{363E7749-B696-4622-90E2-587F4A9F8B3C}" presName="dummy" presStyleCnt="0"/>
      <dgm:spPr/>
    </dgm:pt>
    <dgm:pt modelId="{10489DA5-320B-4536-A2DB-1B96092CC955}" type="pres">
      <dgm:prSet presAssocID="{363E7749-B696-4622-90E2-587F4A9F8B3C}" presName="node" presStyleLbl="revTx" presStyleIdx="1" presStyleCnt="5">
        <dgm:presLayoutVars>
          <dgm:bulletEnabled val="1"/>
        </dgm:presLayoutVars>
      </dgm:prSet>
      <dgm:spPr/>
    </dgm:pt>
    <dgm:pt modelId="{5208A0C7-7706-44C8-BDED-F5D8887FEAD5}" type="pres">
      <dgm:prSet presAssocID="{F92381A8-3F07-42F4-803A-1B24C5303B9B}" presName="sibTrans" presStyleLbl="node1" presStyleIdx="1" presStyleCnt="5"/>
      <dgm:spPr/>
    </dgm:pt>
    <dgm:pt modelId="{8B149A5B-7AA1-4741-BAB6-11402BFB494C}" type="pres">
      <dgm:prSet presAssocID="{5E74F9A6-8D50-494A-88A8-BCD4019800A3}" presName="dummy" presStyleCnt="0"/>
      <dgm:spPr/>
    </dgm:pt>
    <dgm:pt modelId="{5E5EBD95-C809-4290-8A85-29CD4315B46D}" type="pres">
      <dgm:prSet presAssocID="{5E74F9A6-8D50-494A-88A8-BCD4019800A3}" presName="node" presStyleLbl="revTx" presStyleIdx="2" presStyleCnt="5">
        <dgm:presLayoutVars>
          <dgm:bulletEnabled val="1"/>
        </dgm:presLayoutVars>
      </dgm:prSet>
      <dgm:spPr/>
    </dgm:pt>
    <dgm:pt modelId="{5043AF15-9AC3-4B3A-814F-39138C31FA19}" type="pres">
      <dgm:prSet presAssocID="{C03805D5-EA2E-44FF-B3E8-628B942F9B63}" presName="sibTrans" presStyleLbl="node1" presStyleIdx="2" presStyleCnt="5"/>
      <dgm:spPr/>
    </dgm:pt>
    <dgm:pt modelId="{5AA5FE83-D716-481E-8EA0-C4C33FD0D2BB}" type="pres">
      <dgm:prSet presAssocID="{EA2C8ECF-12D7-44A4-89B4-054B85616010}" presName="dummy" presStyleCnt="0"/>
      <dgm:spPr/>
    </dgm:pt>
    <dgm:pt modelId="{25F24B1D-A966-4679-AD8F-7CEBDCA7460C}" type="pres">
      <dgm:prSet presAssocID="{EA2C8ECF-12D7-44A4-89B4-054B85616010}" presName="node" presStyleLbl="revTx" presStyleIdx="3" presStyleCnt="5">
        <dgm:presLayoutVars>
          <dgm:bulletEnabled val="1"/>
        </dgm:presLayoutVars>
      </dgm:prSet>
      <dgm:spPr/>
    </dgm:pt>
    <dgm:pt modelId="{EF12257B-C09A-44EC-8A52-1B2E8C4757BE}" type="pres">
      <dgm:prSet presAssocID="{8487DEFA-277C-4F4F-91A3-4690B70EF3BD}" presName="sibTrans" presStyleLbl="node1" presStyleIdx="3" presStyleCnt="5"/>
      <dgm:spPr/>
    </dgm:pt>
    <dgm:pt modelId="{B6B08E2B-3214-479C-A89E-AD1FB7200424}" type="pres">
      <dgm:prSet presAssocID="{DB251FF9-AB05-40E5-B26F-CFB739623E96}" presName="dummy" presStyleCnt="0"/>
      <dgm:spPr/>
    </dgm:pt>
    <dgm:pt modelId="{CC2B2678-2166-40BF-BFE8-48B127E41CCB}" type="pres">
      <dgm:prSet presAssocID="{DB251FF9-AB05-40E5-B26F-CFB739623E96}" presName="node" presStyleLbl="revTx" presStyleIdx="4" presStyleCnt="5">
        <dgm:presLayoutVars>
          <dgm:bulletEnabled val="1"/>
        </dgm:presLayoutVars>
      </dgm:prSet>
      <dgm:spPr/>
    </dgm:pt>
    <dgm:pt modelId="{6FD8CB1B-A8B0-4A83-8FB3-C25A29B3CC7A}" type="pres">
      <dgm:prSet presAssocID="{F620F8B2-73D7-4EBA-8320-A8D1839AD980}" presName="sibTrans" presStyleLbl="node1" presStyleIdx="4" presStyleCnt="5" custLinFactNeighborX="186" custLinFactNeighborY="526"/>
      <dgm:spPr/>
    </dgm:pt>
  </dgm:ptLst>
  <dgm:cxnLst>
    <dgm:cxn modelId="{66BFA404-2962-4A14-8B32-9038911784F5}" type="presOf" srcId="{BC5C4643-1C6C-412E-ADBC-32B70A08FC93}" destId="{0E2B25F2-FFAE-41A5-98BB-F2EC09CDF405}" srcOrd="0" destOrd="0" presId="urn:microsoft.com/office/officeart/2005/8/layout/cycle1"/>
    <dgm:cxn modelId="{A2E3BE35-3EF1-4343-95D1-C665884015F0}" srcId="{BC5C4643-1C6C-412E-ADBC-32B70A08FC93}" destId="{363E7749-B696-4622-90E2-587F4A9F8B3C}" srcOrd="1" destOrd="0" parTransId="{164FB097-379D-4BA4-B740-AC617FACDC94}" sibTransId="{F92381A8-3F07-42F4-803A-1B24C5303B9B}"/>
    <dgm:cxn modelId="{35EEDF3D-DF67-4112-8A31-869333FC7331}" type="presOf" srcId="{F620F8B2-73D7-4EBA-8320-A8D1839AD980}" destId="{6FD8CB1B-A8B0-4A83-8FB3-C25A29B3CC7A}" srcOrd="0" destOrd="0" presId="urn:microsoft.com/office/officeart/2005/8/layout/cycle1"/>
    <dgm:cxn modelId="{58408765-680F-49B0-8AAA-64E792D299ED}" type="presOf" srcId="{DB251FF9-AB05-40E5-B26F-CFB739623E96}" destId="{CC2B2678-2166-40BF-BFE8-48B127E41CCB}" srcOrd="0" destOrd="0" presId="urn:microsoft.com/office/officeart/2005/8/layout/cycle1"/>
    <dgm:cxn modelId="{4C002747-3A9D-4664-8769-B1E0C35BFC72}" type="presOf" srcId="{1730F7B2-B67A-4DC6-8291-9695A7E1E3CF}" destId="{27B2B74E-5FF7-4229-BF46-665B1F468277}" srcOrd="0" destOrd="0" presId="urn:microsoft.com/office/officeart/2005/8/layout/cycle1"/>
    <dgm:cxn modelId="{E9042959-541F-4F2B-B1C2-C54E3F153A66}" type="presOf" srcId="{5CF91FB1-5F45-4B1D-894C-3765E46B4FF0}" destId="{86D840C4-898D-400D-A5AA-C5D1B6ABFCCA}" srcOrd="0" destOrd="0" presId="urn:microsoft.com/office/officeart/2005/8/layout/cycle1"/>
    <dgm:cxn modelId="{60248484-745B-4DA0-BC86-1F13CFE8A1AA}" srcId="{BC5C4643-1C6C-412E-ADBC-32B70A08FC93}" destId="{5E74F9A6-8D50-494A-88A8-BCD4019800A3}" srcOrd="2" destOrd="0" parTransId="{07D6597E-36E0-4EF6-913D-2A487C407712}" sibTransId="{C03805D5-EA2E-44FF-B3E8-628B942F9B63}"/>
    <dgm:cxn modelId="{97B6399B-A4D0-4025-918C-537E497503A0}" type="presOf" srcId="{5E74F9A6-8D50-494A-88A8-BCD4019800A3}" destId="{5E5EBD95-C809-4290-8A85-29CD4315B46D}" srcOrd="0" destOrd="0" presId="urn:microsoft.com/office/officeart/2005/8/layout/cycle1"/>
    <dgm:cxn modelId="{1DB9DC9F-B97D-4420-8AE1-9291EE75516D}" srcId="{BC5C4643-1C6C-412E-ADBC-32B70A08FC93}" destId="{DB251FF9-AB05-40E5-B26F-CFB739623E96}" srcOrd="4" destOrd="0" parTransId="{2B4F6E5C-6E92-4CDD-BB32-C04DA23D8376}" sibTransId="{F620F8B2-73D7-4EBA-8320-A8D1839AD980}"/>
    <dgm:cxn modelId="{CCD39DA2-156E-4584-AB12-FB7CB2C2EBB9}" type="presOf" srcId="{363E7749-B696-4622-90E2-587F4A9F8B3C}" destId="{10489DA5-320B-4536-A2DB-1B96092CC955}" srcOrd="0" destOrd="0" presId="urn:microsoft.com/office/officeart/2005/8/layout/cycle1"/>
    <dgm:cxn modelId="{3ABAA4BD-86F4-496D-8EC2-F91C9A93BA7A}" type="presOf" srcId="{EA2C8ECF-12D7-44A4-89B4-054B85616010}" destId="{25F24B1D-A966-4679-AD8F-7CEBDCA7460C}" srcOrd="0" destOrd="0" presId="urn:microsoft.com/office/officeart/2005/8/layout/cycle1"/>
    <dgm:cxn modelId="{5971B1C1-773C-484E-A503-A12EEA1006EF}" type="presOf" srcId="{8487DEFA-277C-4F4F-91A3-4690B70EF3BD}" destId="{EF12257B-C09A-44EC-8A52-1B2E8C4757BE}" srcOrd="0" destOrd="0" presId="urn:microsoft.com/office/officeart/2005/8/layout/cycle1"/>
    <dgm:cxn modelId="{45CFFAC1-F319-4EB3-B57A-D1F90A56D3B3}" type="presOf" srcId="{F92381A8-3F07-42F4-803A-1B24C5303B9B}" destId="{5208A0C7-7706-44C8-BDED-F5D8887FEAD5}" srcOrd="0" destOrd="0" presId="urn:microsoft.com/office/officeart/2005/8/layout/cycle1"/>
    <dgm:cxn modelId="{02D4BDDA-F66B-4C91-A0BD-E4AC50E42DF3}" srcId="{BC5C4643-1C6C-412E-ADBC-32B70A08FC93}" destId="{5CF91FB1-5F45-4B1D-894C-3765E46B4FF0}" srcOrd="0" destOrd="0" parTransId="{8C914A30-B33A-4509-B455-D51DEFF7DB4F}" sibTransId="{1730F7B2-B67A-4DC6-8291-9695A7E1E3CF}"/>
    <dgm:cxn modelId="{6F018FDF-6AE7-4383-9B21-1285301CB119}" type="presOf" srcId="{C03805D5-EA2E-44FF-B3E8-628B942F9B63}" destId="{5043AF15-9AC3-4B3A-814F-39138C31FA19}" srcOrd="0" destOrd="0" presId="urn:microsoft.com/office/officeart/2005/8/layout/cycle1"/>
    <dgm:cxn modelId="{B895ACF2-A24E-4550-9D6F-5FA93A30C453}" srcId="{BC5C4643-1C6C-412E-ADBC-32B70A08FC93}" destId="{EA2C8ECF-12D7-44A4-89B4-054B85616010}" srcOrd="3" destOrd="0" parTransId="{CF24B3EC-0FD3-458F-93DB-C5A5BB9E6644}" sibTransId="{8487DEFA-277C-4F4F-91A3-4690B70EF3BD}"/>
    <dgm:cxn modelId="{8D91229D-E82C-44DD-9F37-9B814EF34A6D}" type="presParOf" srcId="{0E2B25F2-FFAE-41A5-98BB-F2EC09CDF405}" destId="{06587921-553A-45FD-9D29-5B3A77FBA3AC}" srcOrd="0" destOrd="0" presId="urn:microsoft.com/office/officeart/2005/8/layout/cycle1"/>
    <dgm:cxn modelId="{47961876-D124-40B1-A3E2-1920BAE9969E}" type="presParOf" srcId="{0E2B25F2-FFAE-41A5-98BB-F2EC09CDF405}" destId="{86D840C4-898D-400D-A5AA-C5D1B6ABFCCA}" srcOrd="1" destOrd="0" presId="urn:microsoft.com/office/officeart/2005/8/layout/cycle1"/>
    <dgm:cxn modelId="{9EAC0A2D-A7C4-4452-8A88-66BF60DE37C3}" type="presParOf" srcId="{0E2B25F2-FFAE-41A5-98BB-F2EC09CDF405}" destId="{27B2B74E-5FF7-4229-BF46-665B1F468277}" srcOrd="2" destOrd="0" presId="urn:microsoft.com/office/officeart/2005/8/layout/cycle1"/>
    <dgm:cxn modelId="{EB000BF3-59F5-4316-8601-7B68620E1AB7}" type="presParOf" srcId="{0E2B25F2-FFAE-41A5-98BB-F2EC09CDF405}" destId="{916F9320-97A2-4D6F-93E0-BFD961875CF1}" srcOrd="3" destOrd="0" presId="urn:microsoft.com/office/officeart/2005/8/layout/cycle1"/>
    <dgm:cxn modelId="{D078BDC4-5A1A-45CE-9EA1-8777DC80DF2C}" type="presParOf" srcId="{0E2B25F2-FFAE-41A5-98BB-F2EC09CDF405}" destId="{10489DA5-320B-4536-A2DB-1B96092CC955}" srcOrd="4" destOrd="0" presId="urn:microsoft.com/office/officeart/2005/8/layout/cycle1"/>
    <dgm:cxn modelId="{D9F0A214-0FEC-480F-A832-A9609F270DC1}" type="presParOf" srcId="{0E2B25F2-FFAE-41A5-98BB-F2EC09CDF405}" destId="{5208A0C7-7706-44C8-BDED-F5D8887FEAD5}" srcOrd="5" destOrd="0" presId="urn:microsoft.com/office/officeart/2005/8/layout/cycle1"/>
    <dgm:cxn modelId="{C6C58D63-395F-4393-B794-C0A5E6B24455}" type="presParOf" srcId="{0E2B25F2-FFAE-41A5-98BB-F2EC09CDF405}" destId="{8B149A5B-7AA1-4741-BAB6-11402BFB494C}" srcOrd="6" destOrd="0" presId="urn:microsoft.com/office/officeart/2005/8/layout/cycle1"/>
    <dgm:cxn modelId="{6172C0C1-F1C5-41A6-95C7-D968049CCA89}" type="presParOf" srcId="{0E2B25F2-FFAE-41A5-98BB-F2EC09CDF405}" destId="{5E5EBD95-C809-4290-8A85-29CD4315B46D}" srcOrd="7" destOrd="0" presId="urn:microsoft.com/office/officeart/2005/8/layout/cycle1"/>
    <dgm:cxn modelId="{044CEC46-EA8E-41F7-9D4C-7D1D07FB0836}" type="presParOf" srcId="{0E2B25F2-FFAE-41A5-98BB-F2EC09CDF405}" destId="{5043AF15-9AC3-4B3A-814F-39138C31FA19}" srcOrd="8" destOrd="0" presId="urn:microsoft.com/office/officeart/2005/8/layout/cycle1"/>
    <dgm:cxn modelId="{B32D65BF-6082-430B-B11E-91CC2D7B4859}" type="presParOf" srcId="{0E2B25F2-FFAE-41A5-98BB-F2EC09CDF405}" destId="{5AA5FE83-D716-481E-8EA0-C4C33FD0D2BB}" srcOrd="9" destOrd="0" presId="urn:microsoft.com/office/officeart/2005/8/layout/cycle1"/>
    <dgm:cxn modelId="{08B91BF4-9FFF-470C-99C7-1AB90985928F}" type="presParOf" srcId="{0E2B25F2-FFAE-41A5-98BB-F2EC09CDF405}" destId="{25F24B1D-A966-4679-AD8F-7CEBDCA7460C}" srcOrd="10" destOrd="0" presId="urn:microsoft.com/office/officeart/2005/8/layout/cycle1"/>
    <dgm:cxn modelId="{51E7BD0B-264E-4E66-B2DF-431A3A971D86}" type="presParOf" srcId="{0E2B25F2-FFAE-41A5-98BB-F2EC09CDF405}" destId="{EF12257B-C09A-44EC-8A52-1B2E8C4757BE}" srcOrd="11" destOrd="0" presId="urn:microsoft.com/office/officeart/2005/8/layout/cycle1"/>
    <dgm:cxn modelId="{82BDC7C4-9A40-4DC1-AE32-B24E231F6B88}" type="presParOf" srcId="{0E2B25F2-FFAE-41A5-98BB-F2EC09CDF405}" destId="{B6B08E2B-3214-479C-A89E-AD1FB7200424}" srcOrd="12" destOrd="0" presId="urn:microsoft.com/office/officeart/2005/8/layout/cycle1"/>
    <dgm:cxn modelId="{659D4AF3-39CA-41CB-8D13-4988E1B1B6F4}" type="presParOf" srcId="{0E2B25F2-FFAE-41A5-98BB-F2EC09CDF405}" destId="{CC2B2678-2166-40BF-BFE8-48B127E41CCB}" srcOrd="13" destOrd="0" presId="urn:microsoft.com/office/officeart/2005/8/layout/cycle1"/>
    <dgm:cxn modelId="{CACA5DA6-8F61-439D-9807-91A8A6C09918}" type="presParOf" srcId="{0E2B25F2-FFAE-41A5-98BB-F2EC09CDF405}" destId="{6FD8CB1B-A8B0-4A83-8FB3-C25A29B3CC7A}" srcOrd="14" destOrd="0" presId="urn:microsoft.com/office/officeart/2005/8/layout/cycle1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6D840C4-898D-400D-A5AA-C5D1B6ABFCCA}">
      <dsp:nvSpPr>
        <dsp:cNvPr id="0" name=""/>
        <dsp:cNvSpPr/>
      </dsp:nvSpPr>
      <dsp:spPr>
        <a:xfrm>
          <a:off x="4704665" y="39140"/>
          <a:ext cx="1341437" cy="13414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550" tIns="82550" rIns="82550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6500" kern="1200" dirty="0"/>
            <a:t> </a:t>
          </a:r>
        </a:p>
      </dsp:txBody>
      <dsp:txXfrm>
        <a:off x="4704665" y="39140"/>
        <a:ext cx="1341437" cy="1341437"/>
      </dsp:txXfrm>
    </dsp:sp>
    <dsp:sp modelId="{27B2B74E-5FF7-4229-BF46-665B1F468277}">
      <dsp:nvSpPr>
        <dsp:cNvPr id="0" name=""/>
        <dsp:cNvSpPr/>
      </dsp:nvSpPr>
      <dsp:spPr>
        <a:xfrm>
          <a:off x="1549560" y="385"/>
          <a:ext cx="5028878" cy="5028878"/>
        </a:xfrm>
        <a:prstGeom prst="circularArrow">
          <a:avLst>
            <a:gd name="adj1" fmla="val 5202"/>
            <a:gd name="adj2" fmla="val 336015"/>
            <a:gd name="adj3" fmla="val 21292825"/>
            <a:gd name="adj4" fmla="val 19766604"/>
            <a:gd name="adj5" fmla="val 6068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489DA5-320B-4536-A2DB-1B96092CC955}">
      <dsp:nvSpPr>
        <dsp:cNvPr id="0" name=""/>
        <dsp:cNvSpPr/>
      </dsp:nvSpPr>
      <dsp:spPr>
        <a:xfrm>
          <a:off x="5515145" y="2533541"/>
          <a:ext cx="1341437" cy="13414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550" tIns="82550" rIns="82550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6500" kern="1200" dirty="0"/>
        </a:p>
      </dsp:txBody>
      <dsp:txXfrm>
        <a:off x="5515145" y="2533541"/>
        <a:ext cx="1341437" cy="1341437"/>
      </dsp:txXfrm>
    </dsp:sp>
    <dsp:sp modelId="{5208A0C7-7706-44C8-BDED-F5D8887FEAD5}">
      <dsp:nvSpPr>
        <dsp:cNvPr id="0" name=""/>
        <dsp:cNvSpPr/>
      </dsp:nvSpPr>
      <dsp:spPr>
        <a:xfrm>
          <a:off x="1549560" y="385"/>
          <a:ext cx="5028878" cy="5028878"/>
        </a:xfrm>
        <a:prstGeom prst="circularArrow">
          <a:avLst>
            <a:gd name="adj1" fmla="val 5202"/>
            <a:gd name="adj2" fmla="val 336015"/>
            <a:gd name="adj3" fmla="val 4014266"/>
            <a:gd name="adj4" fmla="val 2253829"/>
            <a:gd name="adj5" fmla="val 6068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5EBD95-C809-4290-8A85-29CD4315B46D}">
      <dsp:nvSpPr>
        <dsp:cNvPr id="0" name=""/>
        <dsp:cNvSpPr/>
      </dsp:nvSpPr>
      <dsp:spPr>
        <a:xfrm>
          <a:off x="3393281" y="4075166"/>
          <a:ext cx="1341437" cy="13414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550" tIns="82550" rIns="82550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6500" kern="1200" dirty="0"/>
        </a:p>
      </dsp:txBody>
      <dsp:txXfrm>
        <a:off x="3393281" y="4075166"/>
        <a:ext cx="1341437" cy="1341437"/>
      </dsp:txXfrm>
    </dsp:sp>
    <dsp:sp modelId="{5043AF15-9AC3-4B3A-814F-39138C31FA19}">
      <dsp:nvSpPr>
        <dsp:cNvPr id="0" name=""/>
        <dsp:cNvSpPr/>
      </dsp:nvSpPr>
      <dsp:spPr>
        <a:xfrm>
          <a:off x="1549560" y="385"/>
          <a:ext cx="5028878" cy="5028878"/>
        </a:xfrm>
        <a:prstGeom prst="circularArrow">
          <a:avLst>
            <a:gd name="adj1" fmla="val 5202"/>
            <a:gd name="adj2" fmla="val 336015"/>
            <a:gd name="adj3" fmla="val 8210155"/>
            <a:gd name="adj4" fmla="val 6449719"/>
            <a:gd name="adj5" fmla="val 6068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F24B1D-A966-4679-AD8F-7CEBDCA7460C}">
      <dsp:nvSpPr>
        <dsp:cNvPr id="0" name=""/>
        <dsp:cNvSpPr/>
      </dsp:nvSpPr>
      <dsp:spPr>
        <a:xfrm>
          <a:off x="1271416" y="2533541"/>
          <a:ext cx="1341437" cy="13414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550" tIns="82550" rIns="82550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6500" kern="1200" dirty="0"/>
        </a:p>
      </dsp:txBody>
      <dsp:txXfrm>
        <a:off x="1271416" y="2533541"/>
        <a:ext cx="1341437" cy="1341437"/>
      </dsp:txXfrm>
    </dsp:sp>
    <dsp:sp modelId="{EF12257B-C09A-44EC-8A52-1B2E8C4757BE}">
      <dsp:nvSpPr>
        <dsp:cNvPr id="0" name=""/>
        <dsp:cNvSpPr/>
      </dsp:nvSpPr>
      <dsp:spPr>
        <a:xfrm>
          <a:off x="1549560" y="385"/>
          <a:ext cx="5028878" cy="5028878"/>
        </a:xfrm>
        <a:prstGeom prst="circularArrow">
          <a:avLst>
            <a:gd name="adj1" fmla="val 5202"/>
            <a:gd name="adj2" fmla="val 336015"/>
            <a:gd name="adj3" fmla="val 12297380"/>
            <a:gd name="adj4" fmla="val 10771160"/>
            <a:gd name="adj5" fmla="val 6068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2B2678-2166-40BF-BFE8-48B127E41CCB}">
      <dsp:nvSpPr>
        <dsp:cNvPr id="0" name=""/>
        <dsp:cNvSpPr/>
      </dsp:nvSpPr>
      <dsp:spPr>
        <a:xfrm>
          <a:off x="2081896" y="39140"/>
          <a:ext cx="1341437" cy="13414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550" tIns="82550" rIns="82550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6500" kern="1200" dirty="0"/>
        </a:p>
      </dsp:txBody>
      <dsp:txXfrm>
        <a:off x="2081896" y="39140"/>
        <a:ext cx="1341437" cy="1341437"/>
      </dsp:txXfrm>
    </dsp:sp>
    <dsp:sp modelId="{6FD8CB1B-A8B0-4A83-8FB3-C25A29B3CC7A}">
      <dsp:nvSpPr>
        <dsp:cNvPr id="0" name=""/>
        <dsp:cNvSpPr/>
      </dsp:nvSpPr>
      <dsp:spPr>
        <a:xfrm>
          <a:off x="1558914" y="26837"/>
          <a:ext cx="5028878" cy="5028878"/>
        </a:xfrm>
        <a:prstGeom prst="circularArrow">
          <a:avLst>
            <a:gd name="adj1" fmla="val 5202"/>
            <a:gd name="adj2" fmla="val 336015"/>
            <a:gd name="adj3" fmla="val 16865256"/>
            <a:gd name="adj4" fmla="val 15198729"/>
            <a:gd name="adj5" fmla="val 6068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4T20:07:21.670"/>
    </inkml:context>
    <inkml:brush xml:id="br0">
      <inkml:brushProperty name="width" value="0.07938" units="cm"/>
      <inkml:brushProperty name="height" value="0.07938" units="cm"/>
      <inkml:brushProperty name="color" value="#E71224"/>
    </inkml:brush>
  </inkml:definitions>
  <inkml:trace contextRef="#ctx0" brushRef="#br0">1768 32 24575,'-52'-10'0,"8"0"0,-55 2 0,0 4 0,-105 11 0,185-4 0,2 0 0,-1 1 0,-29 11 0,-10 3 0,13-4 0,1 1 0,-47 24 0,45-18 0,-71 21 0,77-29 0,0 2 0,-40 21 0,58-24 0,-2-1 0,0-1 0,0-1 0,0-1 0,-1-1 0,0-1 0,-1-1 0,-41 3 0,52-8 0,0 1 0,0 1 0,1 0 0,-1 1 0,1 1 0,-1 0 0,1 0 0,0 2 0,0-1 0,1 2 0,0-1 0,-14 11 0,9-5 0,0 1 0,1 0 0,1 2 0,0-1 0,0 2 0,-12 18 0,20-24 0,0-1 0,1 1 0,0 0 0,1 0 0,0 0 0,1 1 0,0 0 0,1 0 0,0 0 0,1 0 0,0 1 0,-1 21 0,4-27 0,0 0 0,0 0 0,0-1 0,1 1 0,0 0 0,0 0 0,1-1 0,0 0 0,0 1 0,0-1 0,0 0 0,1 0 0,0-1 0,0 1 0,0-1 0,0 0 0,1 0 0,0 0 0,9 5 0,12 7 0,1-1 0,51 21 0,-20-11 0,-15-5 0,1-2 0,1-2 0,1-2 0,0-2 0,76 10 0,245 3 0,-327-24 0,537 21 0,613 15 0,-791-11 0,-291-24 0,52 2 0,251-25 0,-364 11 0,-1-1 0,0-2 0,81-37 0,-79 30 0,1 2 0,82-20 0,-120 36 0,1-1 0,-1 0 0,0 0 0,0-1 0,0-1 0,-1 0 0,0 0 0,0-1 0,17-12 0,-24 15 0,0 0 0,0 0 0,0 0 0,-1 0 0,1-1 0,-1 1 0,0-1 0,0 0 0,0 1 0,0-1 0,0 0 0,-1 0 0,0 0 0,0 0 0,0-1 0,0 1 0,-1 0 0,0 0 0,0-1 0,0 1 0,0 0 0,0 0 0,-1 0 0,0-1 0,0 1 0,0 0 0,0 0 0,-1 0 0,-2-5 0,-3-4 0,0 0 0,-1 1 0,-1 1 0,1-1 0,-2 1 0,1 1 0,-2 0 0,1 0 0,-1 1 0,-1 0 0,-17-10 0,-19-9 0,-81-33 0,108 51 0,-53-20 0,-2 4 0,-140-31 0,-164-6 0,237 43 0,-681-93 0,663 101 0,-196 11 0,154 4 0,156-8-1365,31-1-5461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5T00:21:52.143"/>
    </inkml:context>
    <inkml:brush xml:id="br0">
      <inkml:brushProperty name="width" value="0.07938" units="cm"/>
      <inkml:brushProperty name="height" value="0.07938" units="cm"/>
      <inkml:brushProperty name="color" value="#E71224"/>
    </inkml:brush>
  </inkml:definitions>
  <inkml:trace contextRef="#ctx0" brushRef="#br0">1768 32 24575,'-52'-10'0,"8"0"0,-55 2 0,0 4 0,-105 11 0,185-4 0,2 0 0,-1 1 0,-29 11 0,-10 3 0,13-4 0,1 1 0,-47 24 0,45-18 0,-71 21 0,77-29 0,0 2 0,-40 21 0,58-24 0,-2-1 0,0-1 0,0-1 0,0-1 0,-1-1 0,0-1 0,-1-1 0,-41 3 0,52-8 0,0 1 0,0 1 0,1 0 0,-1 1 0,1 1 0,-1 0 0,1 0 0,0 2 0,0-1 0,1 2 0,0-1 0,-14 11 0,9-5 0,0 1 0,1 0 0,1 2 0,0-1 0,0 2 0,-12 18 0,20-24 0,0-1 0,1 1 0,0 0 0,1 0 0,0 0 0,1 1 0,0 0 0,1 0 0,0 0 0,1 0 0,0 1 0,-1 21 0,4-27 0,0 0 0,0 0 0,0-1 0,1 1 0,0 0 0,0 0 0,1-1 0,0 0 0,0 1 0,0-1 0,0 0 0,1 0 0,0-1 0,0 1 0,0-1 0,0 0 0,1 0 0,0 0 0,9 5 0,12 7 0,1-1 0,51 21 0,-20-11 0,-15-5 0,1-2 0,1-2 0,1-2 0,0-2 0,76 10 0,245 3 0,-327-24 0,537 21 0,613 15 0,-791-11 0,-291-24 0,52 2 0,251-25 0,-364 11 0,-1-1 0,0-2 0,81-37 0,-79 30 0,1 2 0,82-20 0,-120 36 0,1-1 0,-1 0 0,0 0 0,0-1 0,0-1 0,-1 0 0,0 0 0,0-1 0,17-12 0,-24 15 0,0 0 0,0 0 0,0 0 0,-1 0 0,1-1 0,-1 1 0,0-1 0,0 0 0,0 1 0,0-1 0,0 0 0,-1 0 0,0 0 0,0 0 0,0-1 0,0 1 0,-1 0 0,0 0 0,0-1 0,0 1 0,0 0 0,0 0 0,-1 0 0,0-1 0,0 1 0,0 0 0,0 0 0,-1 0 0,-2-5 0,-3-4 0,0 0 0,-1 1 0,-1 1 0,1-1 0,-2 1 0,1 1 0,-2 0 0,1 0 0,-1 1 0,-1 0 0,-17-10 0,-19-9 0,-81-33 0,108 51 0,-53-20 0,-2 4 0,-140-31 0,-164-6 0,237 43 0,-681-93 0,663 101 0,-196 11 0,154 4 0,156-8-1365,31-1-5461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C0D6A1-8F9E-460D-B8A6-B30C91254026}" type="datetimeFigureOut">
              <a:rPr lang="pt-BR" smtClean="0"/>
              <a:t>14/01/2026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BB08CD-6665-49F1-885F-6B82713B20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612307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BB08CD-6665-49F1-885F-6B82713B202B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179497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BB08CD-6665-49F1-885F-6B82713B202B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37783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A83E3D-CF58-7F99-9845-E9F649DD38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969B97D2-ACE2-FA67-3A81-7A768097FC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D5D224E-2A52-73D6-139A-88CC98D68F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7F67C60-A539-5137-D901-CE726772F9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BB08CD-6665-49F1-885F-6B82713B202B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13102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18D888-86AA-2580-D775-8A203063F3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6216D70-79F0-CD0A-246B-79B2F1E967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89E776C-0EB6-7A4D-6452-C09CE5E77A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1091C-02EE-4180-9C26-B436C62BE1CE}" type="datetimeFigureOut">
              <a:rPr lang="pt-BR" smtClean="0"/>
              <a:t>12/01/2026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BAAA5D2-6901-88E1-0EC8-BAF63193D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BCA8D62-A9D1-ABA7-E6D4-1575B369C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FD179D-A56C-4DEB-A5D0-06CADD3E6CF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921687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94F75E-46AA-F517-D0EC-894B0A945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FDE8D51-5F5B-2B4D-233B-8E0DBDFAC0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BC4DEC7-3406-C329-3A18-712F82C8EB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1091C-02EE-4180-9C26-B436C62BE1CE}" type="datetimeFigureOut">
              <a:rPr lang="pt-BR" smtClean="0"/>
              <a:t>12/01/2026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42B8309-00D5-00E1-2DC0-F3393E5A9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F6C5FA3-5825-1554-68E2-0CD98008B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FD179D-A56C-4DEB-A5D0-06CADD3E6CF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922901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E8D783-A5B8-E922-C912-1674E3138A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5BF7AAB-3547-3AE8-9E6B-6887FA0E7F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9F0E2AB-85E5-DA64-97F4-E5883D7DB5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1091C-02EE-4180-9C26-B436C62BE1CE}" type="datetimeFigureOut">
              <a:rPr lang="pt-BR" smtClean="0"/>
              <a:t>12/01/2026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251E89A-788A-3F1E-E8B5-A061FF12D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F85A5B0-8CB6-8947-FD1C-9E0C32792F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FD179D-A56C-4DEB-A5D0-06CADD3E6CF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579720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60DA1F-91DD-F6E2-87F7-28BF30FA2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8BCD994-CA70-C675-A675-6B0377DBCE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8262042-54D8-CCA9-7784-46A4E860AA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490B302-BA3C-4491-6B9B-02A3E2BCA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1091C-02EE-4180-9C26-B436C62BE1CE}" type="datetimeFigureOut">
              <a:rPr lang="pt-BR" smtClean="0"/>
              <a:t>12/01/2026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8E3838C-2840-7013-5C8B-132BC3645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86326CB-76B1-04A8-8847-81BF7742C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FD179D-A56C-4DEB-A5D0-06CADD3E6CF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229748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34AFDE-E88A-30E4-93ED-134D4E6EC1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D974A2A-DDB3-E569-36AD-0DFB91961F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CD9B41F-7D2E-097C-006C-AA80FE4362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60D97B8-FBC3-36D4-36B2-66A2217D7E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6F2BE25-3708-37DC-5170-588189A58B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008D1B30-6509-35B3-ADC8-81C69912F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1091C-02EE-4180-9C26-B436C62BE1CE}" type="datetimeFigureOut">
              <a:rPr lang="pt-BR" smtClean="0"/>
              <a:t>12/01/2026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50D6A60-99E9-081A-1378-253DA5AE9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784BFB99-AEAD-84E5-84CC-536857F4F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FD179D-A56C-4DEB-A5D0-06CADD3E6CF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77271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C2EDEA-BE18-9A70-D8CA-4FC75C23E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1A93D70D-810D-F9FC-3B7D-BF31106C1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1091C-02EE-4180-9C26-B436C62BE1CE}" type="datetimeFigureOut">
              <a:rPr lang="pt-BR" smtClean="0"/>
              <a:t>12/01/2026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1F3357CC-13B9-E319-D1ED-76D324E32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41510B9-FC7F-59E3-94FF-1BFFA05CA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FD179D-A56C-4DEB-A5D0-06CADD3E6CF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07382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580EF31E-1EB6-5F84-4C91-C1740B0397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1091C-02EE-4180-9C26-B436C62BE1CE}" type="datetimeFigureOut">
              <a:rPr lang="pt-BR" smtClean="0"/>
              <a:t>12/01/2026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EF2417E5-520A-45D7-6F5D-046599EF65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7F22C97-F298-1D1F-8F14-86626BBCF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FD179D-A56C-4DEB-A5D0-06CADD3E6CF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7545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ADFDCA-7CB7-6C6F-7EE2-1989579820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2C5DF10-6637-73F6-A467-AD097FD0ED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0ACD3A8-11F2-F313-5BB7-1F8776B23D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D69C421-726D-03F3-E839-F7B78EB71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1091C-02EE-4180-9C26-B436C62BE1CE}" type="datetimeFigureOut">
              <a:rPr lang="pt-BR" smtClean="0"/>
              <a:t>12/01/2026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5565B85-940B-A4BA-34AC-9C1C80BE42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2AE6E31-701A-3AF4-35A4-9A46C060A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FD179D-A56C-4DEB-A5D0-06CADD3E6CF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81071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0112F6-903D-4910-E4DF-7B20201AB4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60E8FDF1-75E5-CF29-468E-CCF591E4F7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83DA123-05AD-740A-B262-AC479EAE09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D32D8DB-36F2-6A21-FFF8-D7AB97355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1091C-02EE-4180-9C26-B436C62BE1CE}" type="datetimeFigureOut">
              <a:rPr lang="pt-BR" smtClean="0"/>
              <a:t>12/01/2026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311997B-6720-A596-73A7-76CC35676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FBCCC7D-F94E-157B-8882-78CDE28FE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FD179D-A56C-4DEB-A5D0-06CADD3E6CF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685353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5543A-127E-EE9E-C76A-7F58EDEE15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1A380FE-3498-575F-028F-B7626F2976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102FCE0-E4DB-238B-6437-F9D531D9A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1091C-02EE-4180-9C26-B436C62BE1CE}" type="datetimeFigureOut">
              <a:rPr lang="pt-BR" smtClean="0"/>
              <a:t>12/01/2026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A924B4B-244A-089A-B347-BEF0DED8F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BB00092-BC21-CC10-87B4-EADEB9020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FD179D-A56C-4DEB-A5D0-06CADD3E6CF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965036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203D8DD-5D2F-598A-92CB-45ACFAAF58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46E7EB2-B48B-5F0D-DFB2-F7FB8D906F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1EA2876-99DD-430C-B9E6-686106CE44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1091C-02EE-4180-9C26-B436C62BE1CE}" type="datetimeFigureOut">
              <a:rPr lang="pt-BR" smtClean="0"/>
              <a:t>12/01/2026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C144CB4-2544-1F52-B695-749E710A5E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C763994-1B3E-B5BF-2E2F-E55D13302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FD179D-A56C-4DEB-A5D0-06CADD3E6CF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30854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tx1"/>
            </a:gs>
            <a:gs pos="92000">
              <a:srgbClr val="008A2E"/>
            </a:gs>
            <a:gs pos="53000">
              <a:srgbClr val="003300"/>
            </a:gs>
            <a:gs pos="100000">
              <a:srgbClr val="00B050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5863CDD1-83E0-D4DF-C56F-FB46B6EF99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8F7285D-6C1B-8CD7-8B0A-26147F8504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EFE5057-C6B1-DB82-9FA4-7B3BB2EE35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41091C-02EE-4180-9C26-B436C62BE1CE}" type="datetimeFigureOut">
              <a:rPr lang="pt-BR" smtClean="0"/>
              <a:t>12/01/2026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3F27BC9-07BB-9430-56E5-4C92160995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6919FA3-4BB6-42EF-6A7E-AD691E8C06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FD179D-A56C-4DEB-A5D0-06CADD3E6CF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010222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coresignal.com/blog/hiring-bias/" TargetMode="External"/><Relationship Id="rId5" Type="http://schemas.openxmlformats.org/officeDocument/2006/relationships/hyperlink" Target="https://coreteamgroup.com/workday-projects-bad-hire-risks-guide/" TargetMode="External"/><Relationship Id="rId4" Type="http://schemas.openxmlformats.org/officeDocument/2006/relationships/hyperlink" Target="https://www.iqpartners.com/blog/the-true-cost-of-a-bad-hire-updated-for-2026" TargetMode="Externa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diagramLayout" Target="../diagrams/layout1.xml"/><Relationship Id="rId7" Type="http://schemas.openxmlformats.org/officeDocument/2006/relationships/image" Target="../media/image5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10" Type="http://schemas.openxmlformats.org/officeDocument/2006/relationships/image" Target="../media/image8.svg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gif"/><Relationship Id="rId5" Type="http://schemas.openxmlformats.org/officeDocument/2006/relationships/image" Target="../media/image11.png"/><Relationship Id="rId4" Type="http://schemas.openxmlformats.org/officeDocument/2006/relationships/customXml" Target="../ink/ink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gif"/><Relationship Id="rId5" Type="http://schemas.openxmlformats.org/officeDocument/2006/relationships/image" Target="../media/image11.png"/><Relationship Id="rId4" Type="http://schemas.openxmlformats.org/officeDocument/2006/relationships/customXml" Target="../ink/ink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C6FD81-F96F-66FC-4DDA-09A9AAD41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166AFF37-DBFB-80F7-75EE-99DC3EE3F57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2389" r="11301"/>
          <a:stretch>
            <a:fillRect/>
          </a:stretch>
        </p:blipFill>
        <p:spPr>
          <a:xfrm>
            <a:off x="0" y="0"/>
            <a:ext cx="2482517" cy="6858000"/>
          </a:xfrm>
          <a:prstGeom prst="rect">
            <a:avLst/>
          </a:prstGeom>
        </p:spPr>
      </p:pic>
      <p:sp>
        <p:nvSpPr>
          <p:cNvPr id="13" name="Espaço Reservado para Número de Slide 12">
            <a:extLst>
              <a:ext uri="{FF2B5EF4-FFF2-40B4-BE49-F238E27FC236}">
                <a16:creationId xmlns:a16="http://schemas.microsoft.com/office/drawing/2014/main" id="{8EAC177D-AF0C-EFE6-7924-692F6DF73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6DA9C-1B67-4414-87EE-2B247BC281D7}" type="slidenum">
              <a:rPr lang="pt-BR" smtClean="0"/>
              <a:t>1</a:t>
            </a:fld>
            <a:endParaRPr lang="pt-BR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4918379D-D3E4-93E7-F380-22E0204FC694}"/>
              </a:ext>
            </a:extLst>
          </p:cNvPr>
          <p:cNvSpPr txBox="1"/>
          <p:nvPr/>
        </p:nvSpPr>
        <p:spPr>
          <a:xfrm>
            <a:off x="2476500" y="1693895"/>
            <a:ext cx="7238999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pt-BR" sz="5400" b="1" dirty="0" err="1">
                <a:solidFill>
                  <a:schemeClr val="bg1"/>
                </a:solidFill>
              </a:rPr>
              <a:t>Novva</a:t>
            </a:r>
            <a:r>
              <a:rPr lang="pt-BR" sz="5400" b="1" dirty="0">
                <a:solidFill>
                  <a:schemeClr val="bg1"/>
                </a:solidFill>
              </a:rPr>
              <a:t> R&amp;S</a:t>
            </a:r>
          </a:p>
          <a:p>
            <a:pPr algn="ctr">
              <a:buNone/>
            </a:pPr>
            <a:r>
              <a:rPr lang="pt-BR" sz="5400" b="1" dirty="0">
                <a:solidFill>
                  <a:schemeClr val="bg1"/>
                </a:solidFill>
              </a:rPr>
              <a:t>Selecionar Pessoas de forma Objetiva e Transparente e não errar na Contratação</a:t>
            </a:r>
            <a:endParaRPr lang="pt-BR" sz="5400" dirty="0">
              <a:solidFill>
                <a:schemeClr val="bg1"/>
              </a:solidFill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4CB878D1-8869-71CF-A422-13CC9EFBFB9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6764" y="213374"/>
            <a:ext cx="1278472" cy="657212"/>
          </a:xfrm>
          <a:prstGeom prst="rect">
            <a:avLst/>
          </a:prstGeom>
        </p:spPr>
      </p:pic>
      <p:pic>
        <p:nvPicPr>
          <p:cNvPr id="12" name="Imagem 11" descr="Gráfico, Gráfico de barras&#10;&#10;O conteúdo gerado por IA pode estar incorreto.">
            <a:extLst>
              <a:ext uri="{FF2B5EF4-FFF2-40B4-BE49-F238E27FC236}">
                <a16:creationId xmlns:a16="http://schemas.microsoft.com/office/drawing/2014/main" id="{95B8C154-4E1B-33CD-D0CB-F077C3155E6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-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721516" y="2406"/>
            <a:ext cx="2482517" cy="6855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93945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B7842CDF-8FFF-C453-EADF-130286A88C29}"/>
              </a:ext>
            </a:extLst>
          </p:cNvPr>
          <p:cNvSpPr/>
          <p:nvPr/>
        </p:nvSpPr>
        <p:spPr>
          <a:xfrm>
            <a:off x="791860" y="1515868"/>
            <a:ext cx="2923114" cy="4951607"/>
          </a:xfrm>
          <a:prstGeom prst="roundRect">
            <a:avLst>
              <a:gd name="adj" fmla="val 9498"/>
            </a:avLst>
          </a:prstGeom>
          <a:solidFill>
            <a:srgbClr val="33CCFF">
              <a:alpha val="3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DE9AF305-7C29-5D28-804C-D8FD59128452}"/>
              </a:ext>
            </a:extLst>
          </p:cNvPr>
          <p:cNvSpPr/>
          <p:nvPr/>
        </p:nvSpPr>
        <p:spPr>
          <a:xfrm>
            <a:off x="0" y="0"/>
            <a:ext cx="12192000" cy="1208092"/>
          </a:xfrm>
          <a:prstGeom prst="rect">
            <a:avLst/>
          </a:prstGeom>
          <a:solidFill>
            <a:srgbClr val="ABA5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9D71EA43-83D3-44C8-E4BB-BD1D7EC03524}"/>
              </a:ext>
            </a:extLst>
          </p:cNvPr>
          <p:cNvSpPr txBox="1"/>
          <p:nvPr/>
        </p:nvSpPr>
        <p:spPr>
          <a:xfrm>
            <a:off x="718591" y="6174243"/>
            <a:ext cx="299638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800" dirty="0">
                <a:solidFill>
                  <a:schemeClr val="bg1"/>
                </a:solidFill>
              </a:rPr>
              <a:t>fonte: https://www.manpowergroup.com.br</a:t>
            </a:r>
          </a:p>
        </p:txBody>
      </p:sp>
      <p:sp>
        <p:nvSpPr>
          <p:cNvPr id="13" name="Espaço Reservado para Número de Slide 12">
            <a:extLst>
              <a:ext uri="{FF2B5EF4-FFF2-40B4-BE49-F238E27FC236}">
                <a16:creationId xmlns:a16="http://schemas.microsoft.com/office/drawing/2014/main" id="{B8DEEC5E-5973-AEE0-CEC3-7E8B4D0DB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5283" y="6356350"/>
            <a:ext cx="2743200" cy="365125"/>
          </a:xfrm>
        </p:spPr>
        <p:txBody>
          <a:bodyPr/>
          <a:lstStyle/>
          <a:p>
            <a:fld id="{EC16DA9C-1B67-4414-87EE-2B247BC281D7}" type="slidenum">
              <a:rPr lang="pt-BR" smtClean="0"/>
              <a:t>2</a:t>
            </a:fld>
            <a:endParaRPr lang="pt-BR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55D66865-B866-3DF5-9EE1-3643F3F8A4C8}"/>
              </a:ext>
            </a:extLst>
          </p:cNvPr>
          <p:cNvSpPr txBox="1"/>
          <p:nvPr/>
        </p:nvSpPr>
        <p:spPr>
          <a:xfrm>
            <a:off x="1231640" y="17523"/>
            <a:ext cx="972871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Abadi Extra Light" panose="020B0204020104020204" pitchFamily="34" charset="0"/>
              </a:rPr>
              <a:t>R&amp;S com Objetividade e Transparência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BCBCD460-22DF-1B33-3908-4F180B985094}"/>
              </a:ext>
            </a:extLst>
          </p:cNvPr>
          <p:cNvSpPr txBox="1"/>
          <p:nvPr/>
        </p:nvSpPr>
        <p:spPr>
          <a:xfrm>
            <a:off x="791859" y="1582543"/>
            <a:ext cx="292311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pt-BR" sz="2000" b="1" dirty="0">
                <a:solidFill>
                  <a:schemeClr val="bg1"/>
                </a:solidFill>
              </a:rPr>
              <a:t>O Desafio de Mercado</a:t>
            </a:r>
            <a:endParaRPr lang="pt-BR" sz="2000" dirty="0">
              <a:solidFill>
                <a:schemeClr val="bg1"/>
              </a:solidFill>
            </a:endParaRPr>
          </a:p>
          <a:p>
            <a:pPr algn="ctr"/>
            <a:r>
              <a:rPr lang="pt-BR" b="1" dirty="0">
                <a:solidFill>
                  <a:schemeClr val="bg1"/>
                </a:solidFill>
              </a:rPr>
              <a:t> </a:t>
            </a:r>
            <a:r>
              <a:rPr lang="pt-BR" sz="4000" b="1" dirty="0">
                <a:solidFill>
                  <a:srgbClr val="FFFF00"/>
                </a:solidFill>
              </a:rPr>
              <a:t>81%</a:t>
            </a:r>
            <a:r>
              <a:rPr lang="pt-BR" sz="4000" b="1" dirty="0">
                <a:solidFill>
                  <a:schemeClr val="bg1"/>
                </a:solidFill>
              </a:rPr>
              <a:t> </a:t>
            </a:r>
          </a:p>
          <a:p>
            <a:pPr algn="ctr"/>
            <a:r>
              <a:rPr lang="pt-BR" sz="2000" dirty="0">
                <a:solidFill>
                  <a:schemeClr val="bg1"/>
                </a:solidFill>
              </a:rPr>
              <a:t>dos empregadores no Brasil relatam </a:t>
            </a:r>
            <a:r>
              <a:rPr lang="pt-BR" sz="2800" dirty="0">
                <a:solidFill>
                  <a:schemeClr val="bg1"/>
                </a:solidFill>
              </a:rPr>
              <a:t>dificuldade</a:t>
            </a:r>
            <a:r>
              <a:rPr lang="pt-BR" sz="2000" dirty="0">
                <a:solidFill>
                  <a:schemeClr val="bg1"/>
                </a:solidFill>
              </a:rPr>
              <a:t> em encontrar os profissionais necessários.</a:t>
            </a:r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C43600CA-AEE0-EFE2-6E69-78E33657D2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712" y="4225790"/>
            <a:ext cx="2595409" cy="160846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9" name="CaixaDeTexto 18">
            <a:extLst>
              <a:ext uri="{FF2B5EF4-FFF2-40B4-BE49-F238E27FC236}">
                <a16:creationId xmlns:a16="http://schemas.microsoft.com/office/drawing/2014/main" id="{AA1EA088-709E-E640-280C-5E9895575D90}"/>
              </a:ext>
            </a:extLst>
          </p:cNvPr>
          <p:cNvSpPr txBox="1"/>
          <p:nvPr/>
        </p:nvSpPr>
        <p:spPr>
          <a:xfrm>
            <a:off x="718592" y="5843820"/>
            <a:ext cx="2996381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050" b="0" i="0" dirty="0">
                <a:solidFill>
                  <a:schemeClr val="bg1"/>
                </a:solidFill>
                <a:effectLst/>
                <a:latin typeface="Inter-Regular"/>
              </a:rPr>
              <a:t> A Pesquisa de Escassez de Talentos não foi realizada em 2017 e 2020.</a:t>
            </a:r>
            <a:endParaRPr lang="pt-BR" sz="1050" dirty="0">
              <a:solidFill>
                <a:schemeClr val="bg1"/>
              </a:solidFill>
            </a:endParaRP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F32EA000-70BA-17BB-3096-2E93680B18DE}"/>
              </a:ext>
            </a:extLst>
          </p:cNvPr>
          <p:cNvSpPr txBox="1"/>
          <p:nvPr/>
        </p:nvSpPr>
        <p:spPr>
          <a:xfrm>
            <a:off x="1299871" y="746427"/>
            <a:ext cx="27135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Nova" panose="020B0504020202020204" pitchFamily="34" charset="0"/>
              </a:rPr>
              <a:t>Os custos de errar</a:t>
            </a:r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DD92B9F2-3667-8764-2F99-D555DF382FEC}"/>
              </a:ext>
            </a:extLst>
          </p:cNvPr>
          <p:cNvSpPr/>
          <p:nvPr/>
        </p:nvSpPr>
        <p:spPr>
          <a:xfrm>
            <a:off x="8477027" y="1515868"/>
            <a:ext cx="2923114" cy="4951607"/>
          </a:xfrm>
          <a:prstGeom prst="roundRect">
            <a:avLst>
              <a:gd name="adj" fmla="val 9498"/>
            </a:avLst>
          </a:prstGeom>
          <a:solidFill>
            <a:srgbClr val="33CCFF">
              <a:alpha val="3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DB929E98-1B05-F363-9419-3C1718B93409}"/>
              </a:ext>
            </a:extLst>
          </p:cNvPr>
          <p:cNvSpPr txBox="1"/>
          <p:nvPr/>
        </p:nvSpPr>
        <p:spPr>
          <a:xfrm>
            <a:off x="8477025" y="1587258"/>
            <a:ext cx="2923114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pt-BR" sz="2000" b="1" dirty="0">
                <a:solidFill>
                  <a:schemeClr val="bg1"/>
                </a:solidFill>
              </a:rPr>
              <a:t>Contratar errado custa</a:t>
            </a:r>
            <a:endParaRPr lang="pt-BR" sz="2000" dirty="0">
              <a:solidFill>
                <a:schemeClr val="bg1"/>
              </a:solidFill>
            </a:endParaRPr>
          </a:p>
          <a:p>
            <a:pPr algn="ctr"/>
            <a:r>
              <a:rPr lang="pt-BR" sz="4000" b="1" dirty="0">
                <a:solidFill>
                  <a:srgbClr val="FFFF00"/>
                </a:solidFill>
              </a:rPr>
              <a:t>30%</a:t>
            </a:r>
            <a:r>
              <a:rPr lang="pt-BR" sz="4000" b="1" dirty="0">
                <a:solidFill>
                  <a:schemeClr val="bg1"/>
                </a:solidFill>
              </a:rPr>
              <a:t> </a:t>
            </a:r>
          </a:p>
          <a:p>
            <a:pPr algn="ctr"/>
            <a:r>
              <a:rPr lang="pt-BR" sz="2000" dirty="0">
                <a:solidFill>
                  <a:schemeClr val="bg1"/>
                </a:solidFill>
              </a:rPr>
              <a:t>dos ganhos do primeiro ano em cargo técnico.</a:t>
            </a:r>
          </a:p>
          <a:p>
            <a:pPr algn="ctr"/>
            <a:r>
              <a:rPr lang="pt-BR" sz="2000" dirty="0">
                <a:solidFill>
                  <a:schemeClr val="bg1"/>
                </a:solidFill>
              </a:rPr>
              <a:t>Até</a:t>
            </a:r>
            <a:r>
              <a:rPr lang="pt-BR" sz="4000" b="1" dirty="0">
                <a:solidFill>
                  <a:schemeClr val="bg1"/>
                </a:solidFill>
              </a:rPr>
              <a:t> </a:t>
            </a:r>
            <a:r>
              <a:rPr lang="pt-BR" sz="4000" b="1" dirty="0">
                <a:solidFill>
                  <a:srgbClr val="FFFF00"/>
                </a:solidFill>
              </a:rPr>
              <a:t>5 vezes</a:t>
            </a:r>
            <a:endParaRPr lang="pt-BR" sz="2000" b="1" dirty="0">
              <a:solidFill>
                <a:srgbClr val="FFFF00"/>
              </a:solidFill>
            </a:endParaRPr>
          </a:p>
          <a:p>
            <a:pPr algn="ctr"/>
            <a:r>
              <a:rPr lang="pt-BR" sz="2000" dirty="0">
                <a:solidFill>
                  <a:schemeClr val="bg1"/>
                </a:solidFill>
              </a:rPr>
              <a:t>os ganhos anuais em uma posição de liderança </a:t>
            </a:r>
          </a:p>
          <a:p>
            <a:pPr algn="ctr"/>
            <a:endParaRPr lang="pt-BR" sz="2000" dirty="0">
              <a:solidFill>
                <a:schemeClr val="bg1"/>
              </a:solidFill>
            </a:endParaRPr>
          </a:p>
          <a:p>
            <a:pPr algn="ctr"/>
            <a:r>
              <a:rPr lang="pt-BR" sz="1400" dirty="0">
                <a:solidFill>
                  <a:schemeClr val="bg1"/>
                </a:solidFill>
              </a:rPr>
              <a:t>(R&amp;S, </a:t>
            </a:r>
            <a:r>
              <a:rPr lang="pt-BR" sz="1400" dirty="0" err="1">
                <a:solidFill>
                  <a:schemeClr val="bg1"/>
                </a:solidFill>
              </a:rPr>
              <a:t>onboarding</a:t>
            </a:r>
            <a:r>
              <a:rPr lang="pt-BR" sz="1400" dirty="0">
                <a:solidFill>
                  <a:schemeClr val="bg1"/>
                </a:solidFill>
              </a:rPr>
              <a:t>, perda de produtividade, treinamentos, danos no relacionamento com clientes, dedicação de outros para compensar as deficiências)</a:t>
            </a:r>
            <a:endParaRPr lang="pt-BR" sz="2000" dirty="0">
              <a:solidFill>
                <a:schemeClr val="bg1"/>
              </a:solidFill>
            </a:endParaRP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E0110851-638F-863E-27B9-7BCCC62507D3}"/>
              </a:ext>
            </a:extLst>
          </p:cNvPr>
          <p:cNvSpPr txBox="1"/>
          <p:nvPr/>
        </p:nvSpPr>
        <p:spPr>
          <a:xfrm>
            <a:off x="8681282" y="6086578"/>
            <a:ext cx="2514599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pt-BR"/>
            </a:defPPr>
            <a:lvl1pPr algn="ctr">
              <a:defRPr sz="1050" b="0" i="0">
                <a:solidFill>
                  <a:schemeClr val="bg1"/>
                </a:solidFill>
                <a:effectLst/>
                <a:latin typeface="Inter-Regular"/>
              </a:defRPr>
            </a:lvl1pPr>
          </a:lstStyle>
          <a:p>
            <a:r>
              <a:rPr lang="pt-BR" dirty="0"/>
              <a:t>Fontes</a:t>
            </a:r>
            <a:r>
              <a:rPr lang="pt-BR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 IQ </a:t>
            </a:r>
            <a:r>
              <a:rPr lang="pt-BR" dirty="0" err="1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Partners</a:t>
            </a:r>
            <a:r>
              <a:rPr lang="pt-BR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pt-BR" dirty="0"/>
              <a:t>e </a:t>
            </a:r>
            <a:r>
              <a:rPr lang="pt-BR" dirty="0" err="1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Coreteam</a:t>
            </a:r>
            <a:endParaRPr lang="pt-BR" dirty="0"/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B5AE26FF-A2D9-F625-259E-8090D0C71258}"/>
              </a:ext>
            </a:extLst>
          </p:cNvPr>
          <p:cNvSpPr/>
          <p:nvPr/>
        </p:nvSpPr>
        <p:spPr>
          <a:xfrm>
            <a:off x="3968869" y="1511153"/>
            <a:ext cx="2923114" cy="4951607"/>
          </a:xfrm>
          <a:prstGeom prst="roundRect">
            <a:avLst>
              <a:gd name="adj" fmla="val 9498"/>
            </a:avLst>
          </a:prstGeom>
          <a:solidFill>
            <a:srgbClr val="33CCFF">
              <a:alpha val="3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CA247DDC-A50F-E648-CA59-F14FC9B0B10E}"/>
              </a:ext>
            </a:extLst>
          </p:cNvPr>
          <p:cNvSpPr txBox="1"/>
          <p:nvPr/>
        </p:nvSpPr>
        <p:spPr>
          <a:xfrm>
            <a:off x="3968867" y="1582543"/>
            <a:ext cx="2923114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pt-BR" sz="2000" b="1" dirty="0">
                <a:solidFill>
                  <a:schemeClr val="bg1"/>
                </a:solidFill>
              </a:rPr>
              <a:t>Viés Cognitivo na Seleção</a:t>
            </a:r>
            <a:endParaRPr lang="pt-BR" sz="2000" dirty="0">
              <a:solidFill>
                <a:schemeClr val="bg1"/>
              </a:solidFill>
            </a:endParaRPr>
          </a:p>
          <a:p>
            <a:pPr algn="ctr"/>
            <a:r>
              <a:rPr lang="pt-BR" sz="4000" b="1" dirty="0">
                <a:solidFill>
                  <a:srgbClr val="FFFF00"/>
                </a:solidFill>
              </a:rPr>
              <a:t>25,5%</a:t>
            </a:r>
            <a:r>
              <a:rPr lang="pt-BR" sz="4000" b="1" dirty="0">
                <a:solidFill>
                  <a:schemeClr val="bg1"/>
                </a:solidFill>
              </a:rPr>
              <a:t> </a:t>
            </a:r>
          </a:p>
          <a:p>
            <a:pPr algn="ctr"/>
            <a:r>
              <a:rPr lang="pt-BR" sz="2000" dirty="0">
                <a:solidFill>
                  <a:schemeClr val="bg1"/>
                </a:solidFill>
              </a:rPr>
              <a:t>das decisões de contratação são tomadas nos primeiros.</a:t>
            </a:r>
          </a:p>
          <a:p>
            <a:pPr algn="ctr"/>
            <a:r>
              <a:rPr lang="pt-BR" sz="4000" b="1" dirty="0">
                <a:solidFill>
                  <a:srgbClr val="FFFF00"/>
                </a:solidFill>
              </a:rPr>
              <a:t>5 minutos</a:t>
            </a:r>
            <a:endParaRPr lang="pt-BR" sz="2000" b="1" dirty="0">
              <a:solidFill>
                <a:srgbClr val="FFFF00"/>
              </a:solidFill>
            </a:endParaRPr>
          </a:p>
          <a:p>
            <a:pPr algn="ctr"/>
            <a:r>
              <a:rPr lang="pt-BR" sz="2000" dirty="0">
                <a:solidFill>
                  <a:schemeClr val="bg1"/>
                </a:solidFill>
              </a:rPr>
              <a:t>de uma entrevista.</a:t>
            </a:r>
          </a:p>
          <a:p>
            <a:pPr algn="ctr"/>
            <a:r>
              <a:rPr lang="pt-BR" sz="2000" dirty="0">
                <a:solidFill>
                  <a:schemeClr val="bg1"/>
                </a:solidFill>
              </a:rPr>
              <a:t>O restante do tempo é gasto pelo entrevistador para confirmar inconscientemente a primeira impressão (“</a:t>
            </a:r>
            <a:r>
              <a:rPr lang="pt-BR" sz="2000" dirty="0" err="1">
                <a:solidFill>
                  <a:schemeClr val="bg1"/>
                </a:solidFill>
              </a:rPr>
              <a:t>gut</a:t>
            </a:r>
            <a:r>
              <a:rPr lang="pt-BR" sz="2000" dirty="0">
                <a:solidFill>
                  <a:schemeClr val="bg1"/>
                </a:solidFill>
              </a:rPr>
              <a:t> feeling”)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DE70312C-5789-5F48-AA2B-EF97479F10D1}"/>
              </a:ext>
            </a:extLst>
          </p:cNvPr>
          <p:cNvSpPr txBox="1"/>
          <p:nvPr/>
        </p:nvSpPr>
        <p:spPr>
          <a:xfrm>
            <a:off x="4110972" y="6204522"/>
            <a:ext cx="2514599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pt-BR"/>
            </a:defPPr>
            <a:lvl1pPr algn="ctr">
              <a:defRPr sz="1050" b="0" i="0">
                <a:solidFill>
                  <a:schemeClr val="bg1"/>
                </a:solidFill>
                <a:effectLst/>
                <a:latin typeface="Inter-Regular"/>
              </a:defRPr>
            </a:lvl1pPr>
          </a:lstStyle>
          <a:p>
            <a:r>
              <a:rPr lang="pt-BR" dirty="0"/>
              <a:t>Fonte:</a:t>
            </a:r>
            <a:r>
              <a:rPr lang="pt-BR" dirty="0">
                <a:solidFill>
                  <a:srgbClr val="0563C1"/>
                </a:solidFill>
              </a:rPr>
              <a:t> </a:t>
            </a:r>
            <a:r>
              <a:rPr lang="pt-BR" dirty="0" err="1"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Coresignal</a:t>
            </a:r>
            <a:endParaRPr lang="pt-BR" dirty="0"/>
          </a:p>
        </p:txBody>
      </p:sp>
      <p:sp>
        <p:nvSpPr>
          <p:cNvPr id="30" name="Seta: Pentágono 29">
            <a:extLst>
              <a:ext uri="{FF2B5EF4-FFF2-40B4-BE49-F238E27FC236}">
                <a16:creationId xmlns:a16="http://schemas.microsoft.com/office/drawing/2014/main" id="{DC139DB6-8F19-6AF9-1F9C-0CDA91C41156}"/>
              </a:ext>
            </a:extLst>
          </p:cNvPr>
          <p:cNvSpPr/>
          <p:nvPr/>
        </p:nvSpPr>
        <p:spPr>
          <a:xfrm>
            <a:off x="7277040" y="1837881"/>
            <a:ext cx="995725" cy="4298150"/>
          </a:xfrm>
          <a:prstGeom prst="homePlate">
            <a:avLst>
              <a:gd name="adj" fmla="val 92991"/>
            </a:avLst>
          </a:prstGeom>
          <a:solidFill>
            <a:srgbClr val="33CCFF">
              <a:alpha val="1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069331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688834-4CB7-DE61-E675-2910C1B80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89BC9C20-F042-5461-D78D-8FF182A6D3D2}"/>
              </a:ext>
            </a:extLst>
          </p:cNvPr>
          <p:cNvSpPr/>
          <p:nvPr/>
        </p:nvSpPr>
        <p:spPr>
          <a:xfrm>
            <a:off x="0" y="0"/>
            <a:ext cx="12192000" cy="1208092"/>
          </a:xfrm>
          <a:prstGeom prst="rect">
            <a:avLst/>
          </a:prstGeom>
          <a:solidFill>
            <a:srgbClr val="ABA5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34A813F1-3870-22A8-DB15-A7892E128B3F}"/>
              </a:ext>
            </a:extLst>
          </p:cNvPr>
          <p:cNvSpPr txBox="1"/>
          <p:nvPr/>
        </p:nvSpPr>
        <p:spPr>
          <a:xfrm>
            <a:off x="1299871" y="746427"/>
            <a:ext cx="69143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Nova" panose="020B0504020202020204" pitchFamily="34" charset="0"/>
              </a:rPr>
              <a:t>A Objetividade e Transparência da Solução </a:t>
            </a:r>
            <a:r>
              <a:rPr lang="pt-BR" sz="2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 Nova" panose="020B0504020202020204" pitchFamily="34" charset="0"/>
              </a:rPr>
              <a:t>Novva</a:t>
            </a:r>
            <a:endParaRPr lang="pt-BR" sz="2400" dirty="0">
              <a:solidFill>
                <a:schemeClr val="tx1">
                  <a:lumMod val="65000"/>
                  <a:lumOff val="35000"/>
                </a:schemeClr>
              </a:solidFill>
              <a:latin typeface="Arial Nova" panose="020B0504020202020204" pitchFamily="34" charset="0"/>
            </a:endParaRPr>
          </a:p>
        </p:txBody>
      </p:sp>
      <p:sp>
        <p:nvSpPr>
          <p:cNvPr id="13" name="Espaço Reservado para Número de Slide 12">
            <a:extLst>
              <a:ext uri="{FF2B5EF4-FFF2-40B4-BE49-F238E27FC236}">
                <a16:creationId xmlns:a16="http://schemas.microsoft.com/office/drawing/2014/main" id="{BA85389A-D9C0-562B-F9A8-DAFB15288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57049" y="6414794"/>
            <a:ext cx="2743200" cy="365125"/>
          </a:xfrm>
        </p:spPr>
        <p:txBody>
          <a:bodyPr/>
          <a:lstStyle/>
          <a:p>
            <a:fld id="{EC16DA9C-1B67-4414-87EE-2B247BC281D7}" type="slidenum">
              <a:rPr lang="pt-BR" smtClean="0">
                <a:solidFill>
                  <a:schemeClr val="bg1"/>
                </a:solidFill>
              </a:rPr>
              <a:t>3</a:t>
            </a:fld>
            <a:endParaRPr lang="pt-BR">
              <a:solidFill>
                <a:schemeClr val="bg1"/>
              </a:solidFill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8BF3B720-AFCC-8710-1E5E-724DE80EB4BA}"/>
              </a:ext>
            </a:extLst>
          </p:cNvPr>
          <p:cNvSpPr txBox="1"/>
          <p:nvPr/>
        </p:nvSpPr>
        <p:spPr>
          <a:xfrm>
            <a:off x="1231640" y="17523"/>
            <a:ext cx="972871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Abadi Extra Light" panose="020B0204020104020204" pitchFamily="34" charset="0"/>
              </a:rPr>
              <a:t>R&amp;S com Objetividade e Transparência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BB5B388-9615-A22B-4C31-8457C9E8B874}"/>
              </a:ext>
            </a:extLst>
          </p:cNvPr>
          <p:cNvSpPr txBox="1"/>
          <p:nvPr/>
        </p:nvSpPr>
        <p:spPr>
          <a:xfrm>
            <a:off x="421214" y="1914386"/>
            <a:ext cx="592475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b="1" dirty="0">
                <a:solidFill>
                  <a:schemeClr val="bg1"/>
                </a:solidFill>
              </a:rPr>
              <a:t>A transparência: todas as vagas registradas em um só local e acessíveis aos seus gestores e avaliadores, que podem ser vários para o mesmo candidato</a:t>
            </a:r>
            <a:endParaRPr lang="pt-BR" sz="2000" dirty="0">
              <a:solidFill>
                <a:schemeClr val="bg1"/>
              </a:solidFill>
            </a:endParaRP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6D7FC3E4-CFCE-0496-4BE3-B8F9F05F03E9}"/>
              </a:ext>
            </a:extLst>
          </p:cNvPr>
          <p:cNvSpPr txBox="1"/>
          <p:nvPr/>
        </p:nvSpPr>
        <p:spPr>
          <a:xfrm>
            <a:off x="421214" y="5044430"/>
            <a:ext cx="592475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b="1" dirty="0">
                <a:solidFill>
                  <a:schemeClr val="bg1"/>
                </a:solidFill>
              </a:rPr>
              <a:t>Avaliação, com notas e pesos, baseada em critérios claros e objetivos, que transformam a subjetividade em dados comparáveis, facilitando a escolha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CD6B88DF-85C8-8B2C-B25C-7CAE5255EF4C}"/>
              </a:ext>
            </a:extLst>
          </p:cNvPr>
          <p:cNvSpPr txBox="1"/>
          <p:nvPr/>
        </p:nvSpPr>
        <p:spPr>
          <a:xfrm>
            <a:off x="421214" y="3633296"/>
            <a:ext cx="592475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b="1" dirty="0">
                <a:solidFill>
                  <a:schemeClr val="bg1"/>
                </a:solidFill>
              </a:rPr>
              <a:t>Avaliação 360° - comparação visual dos critérios entre candidatos, ranking por notas e filtragem por avaliador e/ou critério</a:t>
            </a:r>
            <a:endParaRPr lang="pt-BR" sz="2000" dirty="0">
              <a:solidFill>
                <a:schemeClr val="bg1"/>
              </a:solidFill>
            </a:endParaRPr>
          </a:p>
        </p:txBody>
      </p:sp>
      <p:sp>
        <p:nvSpPr>
          <p:cNvPr id="22" name="Triângulo isósceles 21">
            <a:extLst>
              <a:ext uri="{FF2B5EF4-FFF2-40B4-BE49-F238E27FC236}">
                <a16:creationId xmlns:a16="http://schemas.microsoft.com/office/drawing/2014/main" id="{3094AA70-49B2-64A1-3B77-A1FAF84DB9DD}"/>
              </a:ext>
            </a:extLst>
          </p:cNvPr>
          <p:cNvSpPr/>
          <p:nvPr/>
        </p:nvSpPr>
        <p:spPr>
          <a:xfrm>
            <a:off x="8038504" y="2808175"/>
            <a:ext cx="2517521" cy="2170276"/>
          </a:xfrm>
          <a:prstGeom prst="triangle">
            <a:avLst/>
          </a:prstGeom>
          <a:solidFill>
            <a:schemeClr val="accent6">
              <a:lumMod val="50000"/>
            </a:schemeClr>
          </a:solidFill>
          <a:ln w="28575">
            <a:solidFill>
              <a:srgbClr val="0033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82ADCC70-34F6-B6B3-7DCD-F185352AA834}"/>
              </a:ext>
            </a:extLst>
          </p:cNvPr>
          <p:cNvSpPr txBox="1"/>
          <p:nvPr/>
        </p:nvSpPr>
        <p:spPr>
          <a:xfrm>
            <a:off x="8830726" y="2363043"/>
            <a:ext cx="9330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Triagem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B0BFD197-C1C6-2C11-007D-6FC647CB27E9}"/>
              </a:ext>
            </a:extLst>
          </p:cNvPr>
          <p:cNvSpPr txBox="1"/>
          <p:nvPr/>
        </p:nvSpPr>
        <p:spPr>
          <a:xfrm>
            <a:off x="10341414" y="4731085"/>
            <a:ext cx="9330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Fit Cultural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A4A5E4F5-E852-B637-A5B3-45153A090468}"/>
              </a:ext>
            </a:extLst>
          </p:cNvPr>
          <p:cNvSpPr txBox="1"/>
          <p:nvPr/>
        </p:nvSpPr>
        <p:spPr>
          <a:xfrm>
            <a:off x="7159667" y="4731085"/>
            <a:ext cx="9330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Teste Técnico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93E51AB7-3ED4-4DEC-0FC8-48D74102DEBE}"/>
              </a:ext>
            </a:extLst>
          </p:cNvPr>
          <p:cNvSpPr txBox="1"/>
          <p:nvPr/>
        </p:nvSpPr>
        <p:spPr>
          <a:xfrm>
            <a:off x="8469946" y="3972184"/>
            <a:ext cx="165463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Todos os dados em um só lugar, com acesso controlado e segmentado</a:t>
            </a:r>
          </a:p>
        </p:txBody>
      </p:sp>
      <p:graphicFrame>
        <p:nvGraphicFramePr>
          <p:cNvPr id="27" name="Diagrama 26">
            <a:extLst>
              <a:ext uri="{FF2B5EF4-FFF2-40B4-BE49-F238E27FC236}">
                <a16:creationId xmlns:a16="http://schemas.microsoft.com/office/drawing/2014/main" id="{D1302319-DE81-E40E-D6D4-1FA881B8570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26865756"/>
              </p:ext>
            </p:extLst>
          </p:nvPr>
        </p:nvGraphicFramePr>
        <p:xfrm>
          <a:off x="5129764" y="165272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0" name="Gráfico 29" descr="Análise do cliente com preenchimento sólido">
            <a:extLst>
              <a:ext uri="{FF2B5EF4-FFF2-40B4-BE49-F238E27FC236}">
                <a16:creationId xmlns:a16="http://schemas.microsoft.com/office/drawing/2014/main" id="{76867D2B-9584-BCC1-59ED-F54144F686C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67992" y="3146190"/>
            <a:ext cx="605012" cy="605012"/>
          </a:xfrm>
          <a:prstGeom prst="rect">
            <a:avLst/>
          </a:prstGeom>
        </p:spPr>
      </p:pic>
      <p:pic>
        <p:nvPicPr>
          <p:cNvPr id="32" name="Gráfico 31" descr="Análise do cliente com preenchimento sólido">
            <a:extLst>
              <a:ext uri="{FF2B5EF4-FFF2-40B4-BE49-F238E27FC236}">
                <a16:creationId xmlns:a16="http://schemas.microsoft.com/office/drawing/2014/main" id="{E6B078D5-0E55-721F-E83B-900B13D9F97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012516" y="5239483"/>
            <a:ext cx="605012" cy="605012"/>
          </a:xfrm>
          <a:prstGeom prst="rect">
            <a:avLst/>
          </a:prstGeom>
        </p:spPr>
      </p:pic>
      <p:pic>
        <p:nvPicPr>
          <p:cNvPr id="33" name="Gráfico 32" descr="Análise do cliente com preenchimento sólido">
            <a:extLst>
              <a:ext uri="{FF2B5EF4-FFF2-40B4-BE49-F238E27FC236}">
                <a16:creationId xmlns:a16="http://schemas.microsoft.com/office/drawing/2014/main" id="{83AB2E58-5377-4D3C-479D-4451636E731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864934" y="3164618"/>
            <a:ext cx="605012" cy="605012"/>
          </a:xfrm>
          <a:prstGeom prst="rect">
            <a:avLst/>
          </a:prstGeom>
        </p:spPr>
      </p:pic>
      <p:pic>
        <p:nvPicPr>
          <p:cNvPr id="35" name="Gráfico 34" descr="Crachá de funcionário com preenchimento sólido">
            <a:extLst>
              <a:ext uri="{FF2B5EF4-FFF2-40B4-BE49-F238E27FC236}">
                <a16:creationId xmlns:a16="http://schemas.microsoft.com/office/drawing/2014/main" id="{5381B7FA-436D-1F05-1A64-04537392A87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012516" y="3448696"/>
            <a:ext cx="504538" cy="504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63796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19CD71-EEFD-ED45-DB5B-3B17D5564F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75DC75F2-C864-0714-8EF0-5B3D1AF0B9F2}"/>
              </a:ext>
            </a:extLst>
          </p:cNvPr>
          <p:cNvSpPr/>
          <p:nvPr/>
        </p:nvSpPr>
        <p:spPr>
          <a:xfrm>
            <a:off x="0" y="0"/>
            <a:ext cx="12192000" cy="1208092"/>
          </a:xfrm>
          <a:prstGeom prst="rect">
            <a:avLst/>
          </a:prstGeom>
          <a:solidFill>
            <a:srgbClr val="ABA5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3" name="Espaço Reservado para Número de Slide 12">
            <a:extLst>
              <a:ext uri="{FF2B5EF4-FFF2-40B4-BE49-F238E27FC236}">
                <a16:creationId xmlns:a16="http://schemas.microsoft.com/office/drawing/2014/main" id="{780E1647-04DB-7B74-62EC-17C3C0969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6DA9C-1B67-4414-87EE-2B247BC281D7}" type="slidenum">
              <a:rPr lang="pt-BR" smtClean="0"/>
              <a:t>4</a:t>
            </a:fld>
            <a:endParaRPr lang="pt-BR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0E6B8F83-B43C-998F-0855-EF66810A414C}"/>
              </a:ext>
            </a:extLst>
          </p:cNvPr>
          <p:cNvSpPr txBox="1"/>
          <p:nvPr/>
        </p:nvSpPr>
        <p:spPr>
          <a:xfrm>
            <a:off x="1231640" y="17523"/>
            <a:ext cx="972871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Abadi Extra Light" panose="020B0204020104020204" pitchFamily="34" charset="0"/>
              </a:rPr>
              <a:t>R&amp;S com Objetividade e Transparência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8E36C0CF-B1F7-B05C-8FD1-4B25361A41E5}"/>
              </a:ext>
            </a:extLst>
          </p:cNvPr>
          <p:cNvSpPr txBox="1"/>
          <p:nvPr/>
        </p:nvSpPr>
        <p:spPr>
          <a:xfrm>
            <a:off x="1299871" y="746427"/>
            <a:ext cx="36720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Nova" panose="020B0504020202020204" pitchFamily="34" charset="0"/>
              </a:rPr>
              <a:t>O Mercado que demanda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65DAC77-0594-10BF-141F-59E76C6B5174}"/>
              </a:ext>
            </a:extLst>
          </p:cNvPr>
          <p:cNvSpPr txBox="1"/>
          <p:nvPr/>
        </p:nvSpPr>
        <p:spPr>
          <a:xfrm>
            <a:off x="575289" y="2303960"/>
            <a:ext cx="4771151" cy="4185761"/>
          </a:xfrm>
          <a:prstGeom prst="rect">
            <a:avLst/>
          </a:prstGeom>
          <a:solidFill>
            <a:srgbClr val="003300"/>
          </a:solidFill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Perfil:</a:t>
            </a:r>
            <a:r>
              <a:rPr lang="pt-BR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 </a:t>
            </a:r>
            <a:r>
              <a:rPr lang="pt-BR" sz="1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Empresas de 10 a 200 funcionários, setores de Serviços, Tecnologia e Varejo Especializado. De 1 a 5 contratações mensais. RH é muitas vezes um "departamento de uma pessoa só" ou a função é acumulada pelo dono/sócio.</a:t>
            </a:r>
          </a:p>
          <a:p>
            <a:endParaRPr lang="pt-BR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r>
              <a:rPr lang="pt-BR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Dores:</a:t>
            </a:r>
            <a:r>
              <a:rPr lang="pt-BR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 </a:t>
            </a:r>
            <a:r>
              <a:rPr lang="pt-BR" sz="1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Desorganização (processos em Excel/E-mail), perda de candidatos por demora no retorno, dificuldade em comparar candidatos objetivamente. Sem orçamento para softwares "Enterprise" (acima de R$ 2.000/mês).</a:t>
            </a:r>
          </a:p>
          <a:p>
            <a:endParaRPr lang="pt-BR" sz="14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r>
              <a:rPr lang="pt-BR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Potencial para </a:t>
            </a:r>
            <a:r>
              <a:rPr lang="pt-BR" b="1" dirty="0" err="1">
                <a:solidFill>
                  <a:schemeClr val="accent6">
                    <a:lumMod val="40000"/>
                    <a:lumOff val="60000"/>
                  </a:schemeClr>
                </a:solidFill>
              </a:rPr>
              <a:t>Novva</a:t>
            </a:r>
            <a:r>
              <a:rPr lang="pt-BR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: </a:t>
            </a:r>
            <a:r>
              <a:rPr lang="pt-BR" sz="1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Altíssimo. O "Scorecard" simplifica a decisão baseada em números, não apenas em "feeling". </a:t>
            </a:r>
            <a:r>
              <a:rPr lang="pt-BR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  </a:t>
            </a:r>
          </a:p>
          <a:p>
            <a:endParaRPr lang="pt-BR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r>
              <a:rPr lang="pt-BR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Estratégia de Preço</a:t>
            </a:r>
            <a:r>
              <a:rPr lang="pt-BR" sz="1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: Modelo SaaS self-service, variando entre R$ 100 a R$ 400 mensais, com barreiras de entrada nulas.</a:t>
            </a:r>
            <a:endParaRPr lang="pt-BR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34FBBE5B-75C4-49E0-2B43-6F6F98685B9F}"/>
              </a:ext>
            </a:extLst>
          </p:cNvPr>
          <p:cNvSpPr txBox="1"/>
          <p:nvPr/>
        </p:nvSpPr>
        <p:spPr>
          <a:xfrm>
            <a:off x="6503437" y="2303960"/>
            <a:ext cx="4627983" cy="4216539"/>
          </a:xfrm>
          <a:prstGeom prst="rect">
            <a:avLst/>
          </a:prstGeom>
          <a:solidFill>
            <a:srgbClr val="003300"/>
          </a:solidFill>
        </p:spPr>
        <p:txBody>
          <a:bodyPr wrap="square">
            <a:spAutoFit/>
          </a:bodyPr>
          <a:lstStyle>
            <a:defPPr>
              <a:defRPr lang="pt-BR"/>
            </a:defPPr>
            <a:lvl1pPr>
              <a:defRPr sz="1600">
                <a:solidFill>
                  <a:schemeClr val="accent6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pt-BR" sz="1800" b="1" dirty="0"/>
              <a:t>Perfil</a:t>
            </a:r>
            <a:r>
              <a:rPr lang="pt-BR" sz="1800" dirty="0"/>
              <a:t>:</a:t>
            </a:r>
            <a:r>
              <a:rPr lang="pt-BR" sz="1400" dirty="0"/>
              <a:t> Recrutadores independentes ou pequenas agências que gerenciam processos para terceiros.</a:t>
            </a:r>
          </a:p>
          <a:p>
            <a:endParaRPr lang="pt-BR" sz="1400" dirty="0"/>
          </a:p>
          <a:p>
            <a:r>
              <a:rPr lang="pt-BR" sz="1800" b="1" dirty="0"/>
              <a:t>Dores</a:t>
            </a:r>
            <a:r>
              <a:rPr lang="pt-BR" sz="1800" dirty="0"/>
              <a:t>:</a:t>
            </a:r>
            <a:r>
              <a:rPr lang="pt-BR" sz="1400" dirty="0"/>
              <a:t> Necessidade de segregar dados de múltiplos clientes (compliance), necessidade de justificar a </a:t>
            </a:r>
            <a:r>
              <a:rPr lang="pt-BR" sz="1400" dirty="0" err="1"/>
              <a:t>shortlist</a:t>
            </a:r>
            <a:r>
              <a:rPr lang="pt-BR" sz="1400" dirty="0"/>
              <a:t> para o cliente final. O ATS tradicional foca no fluxo, mas não ajuda a "vender" o candidato para o cliente.</a:t>
            </a:r>
          </a:p>
          <a:p>
            <a:endParaRPr lang="pt-BR" sz="1400" dirty="0"/>
          </a:p>
          <a:p>
            <a:r>
              <a:rPr lang="pt-BR" sz="1800" b="1" dirty="0"/>
              <a:t>Potencial para </a:t>
            </a:r>
            <a:r>
              <a:rPr lang="pt-BR" sz="1800" b="1" dirty="0" err="1"/>
              <a:t>Novva</a:t>
            </a:r>
            <a:r>
              <a:rPr lang="pt-BR" sz="1800" dirty="0"/>
              <a:t>: </a:t>
            </a:r>
            <a:r>
              <a:rPr lang="pt-BR" sz="1400" dirty="0"/>
              <a:t>Elevado (Nicho Estratégico). A arquitetura de dados da </a:t>
            </a:r>
            <a:r>
              <a:rPr lang="pt-BR" sz="1400" dirty="0" err="1"/>
              <a:t>Novva</a:t>
            </a:r>
            <a:r>
              <a:rPr lang="pt-BR" sz="1400" dirty="0"/>
              <a:t> permite que o consultor apresente um "Relatório de Comparação" visual (Radar Chart do candidato vs. Benchmark). Isso agrega valor tangível ao serviço da consultoria. A funcionalidade </a:t>
            </a:r>
            <a:r>
              <a:rPr lang="pt-BR" sz="1400" dirty="0" err="1"/>
              <a:t>multi-tenant</a:t>
            </a:r>
            <a:r>
              <a:rPr lang="pt-BR" sz="1400" dirty="0"/>
              <a:t> permite gerir múltiplos clientes dentro da mesma conta mestre.</a:t>
            </a:r>
          </a:p>
          <a:p>
            <a:endParaRPr lang="pt-BR" sz="1400" dirty="0"/>
          </a:p>
          <a:p>
            <a:r>
              <a:rPr lang="pt-BR" sz="1800" b="1" dirty="0"/>
              <a:t>Estratégia:</a:t>
            </a:r>
            <a:r>
              <a:rPr lang="pt-BR" sz="1800" dirty="0"/>
              <a:t> </a:t>
            </a:r>
            <a:r>
              <a:rPr lang="pt-BR" sz="1400" dirty="0"/>
              <a:t>Funcionar como um parceiro tecnológico, onde </a:t>
            </a:r>
            <a:r>
              <a:rPr lang="pt-BR" sz="1400" dirty="0" err="1"/>
              <a:t>Novva</a:t>
            </a:r>
            <a:r>
              <a:rPr lang="pt-BR" sz="1400" dirty="0"/>
              <a:t> é a ferramenta de entrega de valor da consultoria.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2C2E6BA0-83EE-5AD5-E839-BE6B46B49063}"/>
              </a:ext>
            </a:extLst>
          </p:cNvPr>
          <p:cNvSpPr txBox="1"/>
          <p:nvPr/>
        </p:nvSpPr>
        <p:spPr>
          <a:xfrm>
            <a:off x="575289" y="1882832"/>
            <a:ext cx="426277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b="1" dirty="0">
                <a:solidFill>
                  <a:srgbClr val="00B050"/>
                </a:solidFill>
              </a:rPr>
              <a:t>Segmento A: </a:t>
            </a:r>
            <a:r>
              <a:rPr lang="pt-BR" sz="1600" dirty="0">
                <a:solidFill>
                  <a:srgbClr val="00B050"/>
                </a:solidFill>
              </a:rPr>
              <a:t>Pequenas e Médias Empresas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C61184E7-D350-980B-397C-3E463DA413EB}"/>
              </a:ext>
            </a:extLst>
          </p:cNvPr>
          <p:cNvSpPr txBox="1"/>
          <p:nvPr/>
        </p:nvSpPr>
        <p:spPr>
          <a:xfrm>
            <a:off x="6435281" y="1615147"/>
            <a:ext cx="502244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pt-BR"/>
            </a:defPPr>
            <a:lvl1pPr>
              <a:defRPr sz="1600" b="1">
                <a:solidFill>
                  <a:srgbClr val="00B050"/>
                </a:solidFill>
              </a:defRPr>
            </a:lvl1pPr>
          </a:lstStyle>
          <a:p>
            <a:r>
              <a:rPr lang="pt-BR" dirty="0"/>
              <a:t>Segmento B: </a:t>
            </a:r>
            <a:r>
              <a:rPr lang="pt-BR" b="0" dirty="0"/>
              <a:t>Consultorias de Recrutamento Boutique e Headhunters</a:t>
            </a:r>
          </a:p>
        </p:txBody>
      </p:sp>
    </p:spTree>
    <p:extLst>
      <p:ext uri="{BB962C8B-B14F-4D97-AF65-F5344CB8AC3E}">
        <p14:creationId xmlns:p14="http://schemas.microsoft.com/office/powerpoint/2010/main" val="30682193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059BB6-161D-E740-BE36-11E166596E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4BECFB23-80B9-FB2E-8EBC-E67362BB54E7}"/>
              </a:ext>
            </a:extLst>
          </p:cNvPr>
          <p:cNvSpPr/>
          <p:nvPr/>
        </p:nvSpPr>
        <p:spPr>
          <a:xfrm>
            <a:off x="0" y="0"/>
            <a:ext cx="12192000" cy="1208092"/>
          </a:xfrm>
          <a:prstGeom prst="rect">
            <a:avLst/>
          </a:prstGeom>
          <a:solidFill>
            <a:srgbClr val="ABA5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3" name="Espaço Reservado para Número de Slide 12">
            <a:extLst>
              <a:ext uri="{FF2B5EF4-FFF2-40B4-BE49-F238E27FC236}">
                <a16:creationId xmlns:a16="http://schemas.microsoft.com/office/drawing/2014/main" id="{3DE3C3FD-1DA0-992D-55C6-F85A7BE1D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6DA9C-1B67-4414-87EE-2B247BC281D7}" type="slidenum">
              <a:rPr lang="pt-BR" smtClean="0"/>
              <a:t>5</a:t>
            </a:fld>
            <a:endParaRPr lang="pt-BR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D63783F3-EAB7-1B74-3E3D-E5B6C2A92D6C}"/>
              </a:ext>
            </a:extLst>
          </p:cNvPr>
          <p:cNvSpPr txBox="1"/>
          <p:nvPr/>
        </p:nvSpPr>
        <p:spPr>
          <a:xfrm>
            <a:off x="1231640" y="17523"/>
            <a:ext cx="972871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Abadi Extra Light" panose="020B0204020104020204" pitchFamily="34" charset="0"/>
              </a:rPr>
              <a:t>R&amp;S com Objetividade e Transparência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F6446C4A-0E78-A9D8-675B-4E9126B93E25}"/>
              </a:ext>
            </a:extLst>
          </p:cNvPr>
          <p:cNvSpPr txBox="1"/>
          <p:nvPr/>
        </p:nvSpPr>
        <p:spPr>
          <a:xfrm>
            <a:off x="1299871" y="746427"/>
            <a:ext cx="34517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Nova" panose="020B0504020202020204" pitchFamily="34" charset="0"/>
              </a:rPr>
              <a:t>Vantagens Competitivas</a:t>
            </a:r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AF5C3FF5-7F61-A488-422E-A7788347E9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8971384"/>
              </p:ext>
            </p:extLst>
          </p:nvPr>
        </p:nvGraphicFramePr>
        <p:xfrm>
          <a:off x="398362" y="1515868"/>
          <a:ext cx="11395273" cy="427228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39219">
                  <a:extLst>
                    <a:ext uri="{9D8B030D-6E8A-4147-A177-3AD203B41FA5}">
                      <a16:colId xmlns:a16="http://schemas.microsoft.com/office/drawing/2014/main" val="3719165834"/>
                    </a:ext>
                  </a:extLst>
                </a:gridCol>
                <a:gridCol w="2141058">
                  <a:extLst>
                    <a:ext uri="{9D8B030D-6E8A-4147-A177-3AD203B41FA5}">
                      <a16:colId xmlns:a16="http://schemas.microsoft.com/office/drawing/2014/main" val="3647685539"/>
                    </a:ext>
                  </a:extLst>
                </a:gridCol>
                <a:gridCol w="3984172">
                  <a:extLst>
                    <a:ext uri="{9D8B030D-6E8A-4147-A177-3AD203B41FA5}">
                      <a16:colId xmlns:a16="http://schemas.microsoft.com/office/drawing/2014/main" val="232797854"/>
                    </a:ext>
                  </a:extLst>
                </a:gridCol>
                <a:gridCol w="4030824">
                  <a:extLst>
                    <a:ext uri="{9D8B030D-6E8A-4147-A177-3AD203B41FA5}">
                      <a16:colId xmlns:a16="http://schemas.microsoft.com/office/drawing/2014/main" val="11476952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Força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Fraqueza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</a:rPr>
                        <a:t>Aposta da </a:t>
                      </a:r>
                      <a:r>
                        <a:rPr lang="pt-BR" sz="1600" dirty="0" err="1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</a:rPr>
                        <a:t>Novva</a:t>
                      </a:r>
                      <a:endParaRPr lang="pt-BR" sz="1600" dirty="0"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47975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1600" dirty="0" err="1"/>
                        <a:t>Gupy</a:t>
                      </a:r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Domina o </a:t>
                      </a:r>
                      <a:r>
                        <a:rPr lang="pt-BR" sz="1400" b="0" i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mindshare</a:t>
                      </a:r>
                      <a:r>
                        <a:rPr lang="pt-B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possui a maior base de talentos do Brasil</a:t>
                      </a:r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Sua IA de triagem é polêmica. Candidatos sentem que são rejeitados injustamente, gerando ruído negativo para a marca empregadora. É caro e complexo para uma PME de 50 funcionários</a:t>
                      </a:r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Posicionar-se como a </a:t>
                      </a:r>
                      <a:r>
                        <a:rPr lang="pt-BR" sz="14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pt-BR" sz="14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Anti-Gupy</a:t>
                      </a:r>
                      <a:r>
                        <a:rPr lang="pt-BR" sz="14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pt-B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Onde a </a:t>
                      </a:r>
                      <a:r>
                        <a:rPr lang="pt-BR" sz="1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Gupy</a:t>
                      </a:r>
                      <a:r>
                        <a:rPr lang="pt-B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oferece um robô que decide, </a:t>
                      </a:r>
                      <a:r>
                        <a:rPr lang="pt-BR" sz="1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Novva</a:t>
                      </a:r>
                      <a:r>
                        <a:rPr lang="pt-B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oferece uma ferramenta que empodera o humano a decidir com dados. </a:t>
                      </a:r>
                      <a:r>
                        <a:rPr lang="pt-BR" sz="1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Novva</a:t>
                      </a:r>
                      <a:r>
                        <a:rPr lang="pt-B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vende controle e transparência, atributos valorizados por gestores técnicos e executivos.</a:t>
                      </a:r>
                      <a:endParaRPr lang="pt-BR" sz="1400" dirty="0"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49525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1600" dirty="0" err="1"/>
                        <a:t>Sólides</a:t>
                      </a:r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Líder inconteste em </a:t>
                      </a:r>
                      <a:r>
                        <a:rPr lang="pt-BR" sz="1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PMEs</a:t>
                      </a:r>
                      <a:r>
                        <a:rPr lang="pt-B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com sua ferramenta Profiler (DISC + outras metodologias). Resolve a dor de "quem é essa pessoa?".</a:t>
                      </a:r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Foca excessivamente no comportamento (Soft Skills). Muitas vezes, empresas de tecnologia precisam validar </a:t>
                      </a:r>
                      <a:r>
                        <a:rPr lang="pt-BR" sz="14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Hard Skills</a:t>
                      </a:r>
                      <a:r>
                        <a:rPr lang="pt-B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(código, engenharia) com a mesma profundidade, e o </a:t>
                      </a:r>
                      <a:r>
                        <a:rPr lang="pt-BR" sz="1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Sólides</a:t>
                      </a:r>
                      <a:r>
                        <a:rPr lang="pt-B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pode ser generalista demais nesse aspecto.</a:t>
                      </a:r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Novva</a:t>
                      </a:r>
                      <a:r>
                        <a:rPr lang="pt-B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equilibra o jogo. A estrutura de dados  permite criar um critério "Técnico" com peso 60% e "Cultura" com peso 40%, permitindo contratar um profissional tecnicamente brilhante que tenha apenas um </a:t>
                      </a:r>
                      <a:r>
                        <a:rPr lang="pt-BR" sz="1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fit</a:t>
                      </a:r>
                      <a:r>
                        <a:rPr lang="pt-B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cultural "ok", algo que sistemas puramente comportamentais poderiam desaconselhar.</a:t>
                      </a:r>
                      <a:endParaRPr lang="pt-BR" sz="1400" dirty="0"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76970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1600" dirty="0" err="1"/>
                        <a:t>Abler</a:t>
                      </a:r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Excelente integração com WhatsApp e foco em agências que precisam de velocidade</a:t>
                      </a:r>
                      <a:endParaRPr lang="pt-B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400" dirty="0"/>
                        <a:t>É focado no processo (funil) e não necessariamente na qualidade da decisão (quem é o melhor?)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Inteligência de Decisão. Enquanto o </a:t>
                      </a:r>
                      <a:r>
                        <a:rPr lang="pt-BR" sz="1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Abler</a:t>
                      </a:r>
                      <a:r>
                        <a:rPr lang="pt-B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ajuda a processar o candidato rápido, </a:t>
                      </a:r>
                      <a:r>
                        <a:rPr lang="pt-BR" sz="1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Novva</a:t>
                      </a:r>
                      <a:r>
                        <a:rPr lang="pt-B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ajuda a escolher o candidato certo através da comparação visual com o Benchmark</a:t>
                      </a:r>
                      <a:endParaRPr lang="pt-BR" sz="1000" dirty="0"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1139582"/>
                  </a:ext>
                </a:extLst>
              </a:tr>
            </a:tbl>
          </a:graphicData>
        </a:graphic>
      </p:graphicFrame>
      <p:sp>
        <p:nvSpPr>
          <p:cNvPr id="5" name="CaixaDeTexto 4">
            <a:extLst>
              <a:ext uri="{FF2B5EF4-FFF2-40B4-BE49-F238E27FC236}">
                <a16:creationId xmlns:a16="http://schemas.microsoft.com/office/drawing/2014/main" id="{914DF9CF-9E16-EF54-23ED-DDD69468C904}"/>
              </a:ext>
            </a:extLst>
          </p:cNvPr>
          <p:cNvSpPr txBox="1"/>
          <p:nvPr/>
        </p:nvSpPr>
        <p:spPr>
          <a:xfrm>
            <a:off x="398362" y="5892581"/>
            <a:ext cx="110751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</a:rPr>
              <a:t>** </a:t>
            </a:r>
            <a:r>
              <a:rPr lang="pt-BR" b="1" dirty="0" err="1">
                <a:solidFill>
                  <a:schemeClr val="bg1"/>
                </a:solidFill>
              </a:rPr>
              <a:t>Novva</a:t>
            </a:r>
            <a:r>
              <a:rPr lang="pt-BR" b="1" dirty="0">
                <a:solidFill>
                  <a:schemeClr val="bg1"/>
                </a:solidFill>
              </a:rPr>
              <a:t> é a única plataforma que tem um modelo de entrada </a:t>
            </a:r>
            <a:r>
              <a:rPr lang="pt-BR" b="1" dirty="0" err="1">
                <a:solidFill>
                  <a:schemeClr val="bg1"/>
                </a:solidFill>
              </a:rPr>
              <a:t>Freemium</a:t>
            </a:r>
            <a:r>
              <a:rPr lang="pt-BR" b="1" dirty="0">
                <a:solidFill>
                  <a:schemeClr val="bg1"/>
                </a:solidFill>
              </a:rPr>
              <a:t> com 1 usuário, 1 vaga ativa e candidatos ilimitados para teste.</a:t>
            </a:r>
          </a:p>
        </p:txBody>
      </p:sp>
    </p:spTree>
    <p:extLst>
      <p:ext uri="{BB962C8B-B14F-4D97-AF65-F5344CB8AC3E}">
        <p14:creationId xmlns:p14="http://schemas.microsoft.com/office/powerpoint/2010/main" val="42360628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E8F626-5D22-2BD0-4B67-4DED251AB4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3601D76E-0B3E-986F-ED9A-CA8F5CF4D617}"/>
              </a:ext>
            </a:extLst>
          </p:cNvPr>
          <p:cNvSpPr/>
          <p:nvPr/>
        </p:nvSpPr>
        <p:spPr>
          <a:xfrm>
            <a:off x="0" y="0"/>
            <a:ext cx="12192000" cy="1208092"/>
          </a:xfrm>
          <a:prstGeom prst="rect">
            <a:avLst/>
          </a:prstGeom>
          <a:solidFill>
            <a:srgbClr val="ABA5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3" name="Espaço Reservado para Número de Slide 12">
            <a:extLst>
              <a:ext uri="{FF2B5EF4-FFF2-40B4-BE49-F238E27FC236}">
                <a16:creationId xmlns:a16="http://schemas.microsoft.com/office/drawing/2014/main" id="{957745CD-75A5-55BB-7F79-41095C2CD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6DA9C-1B67-4414-87EE-2B247BC281D7}" type="slidenum">
              <a:rPr lang="pt-BR" smtClean="0"/>
              <a:t>6</a:t>
            </a:fld>
            <a:endParaRPr lang="pt-BR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77564AA8-3885-A4AB-85E3-73E7841DE630}"/>
              </a:ext>
            </a:extLst>
          </p:cNvPr>
          <p:cNvSpPr txBox="1"/>
          <p:nvPr/>
        </p:nvSpPr>
        <p:spPr>
          <a:xfrm>
            <a:off x="1231640" y="17523"/>
            <a:ext cx="972871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Abadi Extra Light" panose="020B0204020104020204" pitchFamily="34" charset="0"/>
              </a:rPr>
              <a:t>R&amp;S com Objetividade e Transparência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BA1763E2-8D6B-60A0-AA9D-B8683D4FD731}"/>
              </a:ext>
            </a:extLst>
          </p:cNvPr>
          <p:cNvSpPr txBox="1"/>
          <p:nvPr/>
        </p:nvSpPr>
        <p:spPr>
          <a:xfrm>
            <a:off x="1299871" y="746427"/>
            <a:ext cx="27478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Nova" panose="020B0504020202020204" pitchFamily="34" charset="0"/>
              </a:rPr>
              <a:t>As funcionalidades</a:t>
            </a:r>
          </a:p>
        </p:txBody>
      </p:sp>
      <p:pic>
        <p:nvPicPr>
          <p:cNvPr id="12" name="Imagem 11" descr="Interface gráfica do usuário, Aplicativo&#10;&#10;O conteúdo gerado por IA pode estar incorreto.">
            <a:extLst>
              <a:ext uri="{FF2B5EF4-FFF2-40B4-BE49-F238E27FC236}">
                <a16:creationId xmlns:a16="http://schemas.microsoft.com/office/drawing/2014/main" id="{D688B843-F687-287B-1099-BCDC671C251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60" r="7654"/>
          <a:stretch>
            <a:fillRect/>
          </a:stretch>
        </p:blipFill>
        <p:spPr>
          <a:xfrm>
            <a:off x="3164278" y="1508024"/>
            <a:ext cx="2939142" cy="320257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5" name="Imagem 14" descr="Interface gráfica do usuário, Texto, Aplicativo&#10;&#10;O conteúdo gerado por IA pode estar incorreto.">
            <a:extLst>
              <a:ext uri="{FF2B5EF4-FFF2-40B4-BE49-F238E27FC236}">
                <a16:creationId xmlns:a16="http://schemas.microsoft.com/office/drawing/2014/main" id="{7067EF1A-7193-53D9-15C7-FF11A73900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8277" y="1623441"/>
            <a:ext cx="3307357" cy="2894757"/>
          </a:xfrm>
          <a:prstGeom prst="rect">
            <a:avLst/>
          </a:prstGeom>
        </p:spPr>
      </p:pic>
      <p:sp>
        <p:nvSpPr>
          <p:cNvPr id="17" name="CaixaDeTexto 16">
            <a:extLst>
              <a:ext uri="{FF2B5EF4-FFF2-40B4-BE49-F238E27FC236}">
                <a16:creationId xmlns:a16="http://schemas.microsoft.com/office/drawing/2014/main" id="{C3CF4D2B-722D-D12E-D15A-E2159E7C5714}"/>
              </a:ext>
            </a:extLst>
          </p:cNvPr>
          <p:cNvSpPr txBox="1"/>
          <p:nvPr/>
        </p:nvSpPr>
        <p:spPr>
          <a:xfrm>
            <a:off x="343483" y="1508024"/>
            <a:ext cx="2747868" cy="2308324"/>
          </a:xfrm>
          <a:prstGeom prst="rect">
            <a:avLst/>
          </a:prstGeom>
          <a:solidFill>
            <a:srgbClr val="006600">
              <a:alpha val="30196"/>
            </a:srgbClr>
          </a:solidFill>
          <a:ln w="19050"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pPr algn="r"/>
            <a:r>
              <a:rPr lang="pt-BR" dirty="0">
                <a:solidFill>
                  <a:schemeClr val="bg1"/>
                </a:solidFill>
              </a:rPr>
              <a:t>Sistema nativamente SaaS com total segurança dos dados da empresa.</a:t>
            </a:r>
          </a:p>
          <a:p>
            <a:pPr algn="r"/>
            <a:endParaRPr lang="pt-BR" dirty="0">
              <a:solidFill>
                <a:schemeClr val="bg1"/>
              </a:solidFill>
            </a:endParaRPr>
          </a:p>
          <a:p>
            <a:pPr algn="r"/>
            <a:r>
              <a:rPr lang="pt-BR" dirty="0">
                <a:solidFill>
                  <a:schemeClr val="bg1"/>
                </a:solidFill>
              </a:rPr>
              <a:t>O sistema detecta automaticamente a qual empresa o usuário está vinculado.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8476F9E9-34A9-2451-5BF2-29A6C08412B8}"/>
              </a:ext>
            </a:extLst>
          </p:cNvPr>
          <p:cNvSpPr txBox="1"/>
          <p:nvPr/>
        </p:nvSpPr>
        <p:spPr>
          <a:xfrm>
            <a:off x="838200" y="5061584"/>
            <a:ext cx="2552018" cy="923330"/>
          </a:xfrm>
          <a:prstGeom prst="rect">
            <a:avLst/>
          </a:prstGeom>
          <a:solidFill>
            <a:srgbClr val="006600">
              <a:alpha val="30196"/>
            </a:srgbClr>
          </a:solidFill>
          <a:ln w="19050"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pt-BR"/>
            </a:defPPr>
            <a:lvl1pPr algn="r">
              <a:defRPr>
                <a:solidFill>
                  <a:schemeClr val="bg1"/>
                </a:solidFill>
              </a:defRPr>
            </a:lvl1pPr>
          </a:lstStyle>
          <a:p>
            <a:r>
              <a:rPr lang="pt-BR" dirty="0"/>
              <a:t>Acesso imediato a uma conta gratuita para testar as funcionalidades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9" name="Tinta 18">
                <a:extLst>
                  <a:ext uri="{FF2B5EF4-FFF2-40B4-BE49-F238E27FC236}">
                    <a16:creationId xmlns:a16="http://schemas.microsoft.com/office/drawing/2014/main" id="{575DE2F5-59E8-CE7E-AC2B-8ACF1A4978C8}"/>
                  </a:ext>
                </a:extLst>
              </p14:cNvPr>
              <p14:cNvContentPartPr/>
              <p14:nvPr/>
            </p14:nvContentPartPr>
            <p14:xfrm>
              <a:off x="3863583" y="4218978"/>
              <a:ext cx="1623600" cy="387000"/>
            </p14:xfrm>
          </p:contentPart>
        </mc:Choice>
        <mc:Fallback>
          <p:pic>
            <p:nvPicPr>
              <p:cNvPr id="19" name="Tinta 18">
                <a:extLst>
                  <a:ext uri="{FF2B5EF4-FFF2-40B4-BE49-F238E27FC236}">
                    <a16:creationId xmlns:a16="http://schemas.microsoft.com/office/drawing/2014/main" id="{575DE2F5-59E8-CE7E-AC2B-8ACF1A4978C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849543" y="4204938"/>
                <a:ext cx="1651680" cy="415440"/>
              </a:xfrm>
              <a:prstGeom prst="rect">
                <a:avLst/>
              </a:prstGeom>
            </p:spPr>
          </p:pic>
        </mc:Fallback>
      </mc:AlternateContent>
      <p:pic>
        <p:nvPicPr>
          <p:cNvPr id="2050" name="Picture 2" descr="setas-png-1 (1) – Academia do Direito de Trânsito">
            <a:extLst>
              <a:ext uri="{FF2B5EF4-FFF2-40B4-BE49-F238E27FC236}">
                <a16:creationId xmlns:a16="http://schemas.microsoft.com/office/drawing/2014/main" id="{76C21E98-D21D-654A-570E-64758931E05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98" r="60035" b="9226"/>
          <a:stretch>
            <a:fillRect/>
          </a:stretch>
        </p:blipFill>
        <p:spPr bwMode="auto">
          <a:xfrm rot="12048519" flipH="1">
            <a:off x="3608288" y="4543676"/>
            <a:ext cx="796595" cy="10358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CaixaDeTexto 20">
            <a:extLst>
              <a:ext uri="{FF2B5EF4-FFF2-40B4-BE49-F238E27FC236}">
                <a16:creationId xmlns:a16="http://schemas.microsoft.com/office/drawing/2014/main" id="{23E7485B-AD62-C28A-88F7-294E5936BFDA}"/>
              </a:ext>
            </a:extLst>
          </p:cNvPr>
          <p:cNvSpPr txBox="1"/>
          <p:nvPr/>
        </p:nvSpPr>
        <p:spPr>
          <a:xfrm>
            <a:off x="7665691" y="4646681"/>
            <a:ext cx="2829943" cy="1477328"/>
          </a:xfrm>
          <a:prstGeom prst="rect">
            <a:avLst/>
          </a:prstGeom>
          <a:solidFill>
            <a:srgbClr val="006600">
              <a:alpha val="30196"/>
            </a:srgbClr>
          </a:solidFill>
          <a:ln w="19050"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pt-BR"/>
            </a:defPPr>
            <a:lvl1pPr algn="r">
              <a:defRPr>
                <a:solidFill>
                  <a:schemeClr val="bg1"/>
                </a:solidFill>
              </a:defRPr>
            </a:lvl1pPr>
          </a:lstStyle>
          <a:p>
            <a:r>
              <a:rPr lang="pt-BR" dirty="0"/>
              <a:t>Automaticamente, detecta usuários que são avaliadores/admin em mais de uma empresa cliente (para agências de RH)</a:t>
            </a:r>
          </a:p>
        </p:txBody>
      </p:sp>
    </p:spTree>
    <p:extLst>
      <p:ext uri="{BB962C8B-B14F-4D97-AF65-F5344CB8AC3E}">
        <p14:creationId xmlns:p14="http://schemas.microsoft.com/office/powerpoint/2010/main" val="27679295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B4408C-BCEE-658B-F4F7-1C94D933C9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0A00DB99-92DB-1649-09B4-0DE6B456634A}"/>
              </a:ext>
            </a:extLst>
          </p:cNvPr>
          <p:cNvSpPr/>
          <p:nvPr/>
        </p:nvSpPr>
        <p:spPr>
          <a:xfrm>
            <a:off x="0" y="0"/>
            <a:ext cx="12192000" cy="1208092"/>
          </a:xfrm>
          <a:prstGeom prst="rect">
            <a:avLst/>
          </a:prstGeom>
          <a:solidFill>
            <a:srgbClr val="ABA5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3" name="Espaço Reservado para Número de Slide 12">
            <a:extLst>
              <a:ext uri="{FF2B5EF4-FFF2-40B4-BE49-F238E27FC236}">
                <a16:creationId xmlns:a16="http://schemas.microsoft.com/office/drawing/2014/main" id="{C84CDDE6-CF5F-1E67-E9D8-F405C9203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6DA9C-1B67-4414-87EE-2B247BC281D7}" type="slidenum">
              <a:rPr lang="pt-BR" smtClean="0"/>
              <a:t>7</a:t>
            </a:fld>
            <a:endParaRPr lang="pt-BR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A541928D-B8E2-3C38-122E-072FEE71292C}"/>
              </a:ext>
            </a:extLst>
          </p:cNvPr>
          <p:cNvSpPr txBox="1"/>
          <p:nvPr/>
        </p:nvSpPr>
        <p:spPr>
          <a:xfrm>
            <a:off x="1231640" y="17523"/>
            <a:ext cx="972871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Abadi Extra Light" panose="020B0204020104020204" pitchFamily="34" charset="0"/>
              </a:rPr>
              <a:t>R&amp;S com Objetividade e Transparência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28B15AA0-C842-B82F-F2DB-0C48368C089C}"/>
              </a:ext>
            </a:extLst>
          </p:cNvPr>
          <p:cNvSpPr txBox="1"/>
          <p:nvPr/>
        </p:nvSpPr>
        <p:spPr>
          <a:xfrm>
            <a:off x="1299871" y="746427"/>
            <a:ext cx="27478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Nova" panose="020B0504020202020204" pitchFamily="34" charset="0"/>
              </a:rPr>
              <a:t>As funcionalidades</a:t>
            </a:r>
          </a:p>
        </p:txBody>
      </p:sp>
      <p:pic>
        <p:nvPicPr>
          <p:cNvPr id="4" name="Imagem 3" descr="Interface gráfica do usuário, Aplicativo&#10;&#10;O conteúdo gerado por IA pode estar incorreto.">
            <a:extLst>
              <a:ext uri="{FF2B5EF4-FFF2-40B4-BE49-F238E27FC236}">
                <a16:creationId xmlns:a16="http://schemas.microsoft.com/office/drawing/2014/main" id="{CE090985-0357-1E80-2A22-140A45F633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283" y="2227223"/>
            <a:ext cx="6060403" cy="367185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1A5CF01F-8666-74FF-35FB-905CE9ABDDCB}"/>
              </a:ext>
            </a:extLst>
          </p:cNvPr>
          <p:cNvSpPr txBox="1"/>
          <p:nvPr/>
        </p:nvSpPr>
        <p:spPr>
          <a:xfrm>
            <a:off x="6554584" y="2505963"/>
            <a:ext cx="4698134" cy="2862322"/>
          </a:xfrm>
          <a:prstGeom prst="rect">
            <a:avLst/>
          </a:prstGeom>
          <a:solidFill>
            <a:srgbClr val="006600">
              <a:alpha val="30196"/>
            </a:srgbClr>
          </a:solidFill>
          <a:ln w="19050"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Nas configurações, o responsável pelo processo na empresa, pode gerenciar: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/>
                </a:solidFill>
              </a:rPr>
              <a:t>Os dados da empresa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/>
                </a:solidFill>
              </a:rPr>
              <a:t>Os dados dos membros, sejam outros administradores do sistema, ou somente avaliadores dos candidatos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>
              <a:solidFill>
                <a:schemeClr val="bg1"/>
              </a:solidFill>
            </a:endParaRPr>
          </a:p>
          <a:p>
            <a:r>
              <a:rPr lang="pt-BR" dirty="0">
                <a:solidFill>
                  <a:schemeClr val="bg1"/>
                </a:solidFill>
              </a:rPr>
              <a:t>Qualquer usuário pode manutenir seus dados</a:t>
            </a:r>
          </a:p>
        </p:txBody>
      </p:sp>
    </p:spTree>
    <p:extLst>
      <p:ext uri="{BB962C8B-B14F-4D97-AF65-F5344CB8AC3E}">
        <p14:creationId xmlns:p14="http://schemas.microsoft.com/office/powerpoint/2010/main" val="22933718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D92F50-2ED9-0040-DADF-D32C0FC4E8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680E11D4-5187-24C4-7FEF-F794F1E00C33}"/>
              </a:ext>
            </a:extLst>
          </p:cNvPr>
          <p:cNvSpPr/>
          <p:nvPr/>
        </p:nvSpPr>
        <p:spPr>
          <a:xfrm>
            <a:off x="0" y="0"/>
            <a:ext cx="12192000" cy="1208092"/>
          </a:xfrm>
          <a:prstGeom prst="rect">
            <a:avLst/>
          </a:prstGeom>
          <a:solidFill>
            <a:srgbClr val="ABA5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3" name="Espaço Reservado para Número de Slide 12">
            <a:extLst>
              <a:ext uri="{FF2B5EF4-FFF2-40B4-BE49-F238E27FC236}">
                <a16:creationId xmlns:a16="http://schemas.microsoft.com/office/drawing/2014/main" id="{C40E006A-B04B-BBEA-F8F2-6D1328582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6DA9C-1B67-4414-87EE-2B247BC281D7}" type="slidenum">
              <a:rPr lang="pt-BR" smtClean="0"/>
              <a:t>8</a:t>
            </a:fld>
            <a:endParaRPr lang="pt-BR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C6F7468A-A3B0-D439-2A47-0CAE6A00D147}"/>
              </a:ext>
            </a:extLst>
          </p:cNvPr>
          <p:cNvSpPr txBox="1"/>
          <p:nvPr/>
        </p:nvSpPr>
        <p:spPr>
          <a:xfrm>
            <a:off x="1231640" y="17523"/>
            <a:ext cx="972871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Abadi Extra Light" panose="020B0204020104020204" pitchFamily="34" charset="0"/>
              </a:rPr>
              <a:t>R&amp;S com Objetividade e Transparência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1172495D-68A9-0B29-37DB-143837ED31CD}"/>
              </a:ext>
            </a:extLst>
          </p:cNvPr>
          <p:cNvSpPr txBox="1"/>
          <p:nvPr/>
        </p:nvSpPr>
        <p:spPr>
          <a:xfrm>
            <a:off x="1299871" y="746427"/>
            <a:ext cx="27478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Nova" panose="020B0504020202020204" pitchFamily="34" charset="0"/>
              </a:rPr>
              <a:t>As funcionalidades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A659B7DB-F09F-D65E-C845-75C4453BC5A1}"/>
              </a:ext>
            </a:extLst>
          </p:cNvPr>
          <p:cNvSpPr txBox="1"/>
          <p:nvPr/>
        </p:nvSpPr>
        <p:spPr>
          <a:xfrm>
            <a:off x="212770" y="1336831"/>
            <a:ext cx="4995453" cy="1477328"/>
          </a:xfrm>
          <a:prstGeom prst="rect">
            <a:avLst/>
          </a:prstGeom>
          <a:solidFill>
            <a:srgbClr val="006600">
              <a:alpha val="30196"/>
            </a:srgbClr>
          </a:solidFill>
          <a:ln w="19050"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Na página principal, o usuário pode ver todas as vagas divulgadas com </a:t>
            </a:r>
            <a:r>
              <a:rPr lang="pt-BR" dirty="0" err="1">
                <a:solidFill>
                  <a:schemeClr val="bg1"/>
                </a:solidFill>
              </a:rPr>
              <a:t>qtde</a:t>
            </a:r>
            <a:r>
              <a:rPr lang="pt-BR" dirty="0">
                <a:solidFill>
                  <a:schemeClr val="bg1"/>
                </a:solidFill>
              </a:rPr>
              <a:t> de inscritos, tempo de divulgação, status (ativa, inativa, suspensa, cancelada ou preenchida) e filtra-las por área, ou entrar na vaga. </a:t>
            </a:r>
          </a:p>
        </p:txBody>
      </p:sp>
      <p:pic>
        <p:nvPicPr>
          <p:cNvPr id="3" name="Imagem 2" descr="Interface gráfica do usuário, Aplicativo&#10;&#10;O conteúdo gerado por IA pode estar incorreto.">
            <a:extLst>
              <a:ext uri="{FF2B5EF4-FFF2-40B4-BE49-F238E27FC236}">
                <a16:creationId xmlns:a16="http://schemas.microsoft.com/office/drawing/2014/main" id="{EE5DBE06-25BE-EE92-4DAB-B50E9E7A05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386" y="3011132"/>
            <a:ext cx="4953837" cy="3710343"/>
          </a:xfrm>
          <a:prstGeom prst="rect">
            <a:avLst/>
          </a:prstGeom>
          <a:ln w="38100">
            <a:solidFill>
              <a:schemeClr val="bg1">
                <a:lumMod val="75000"/>
              </a:schemeClr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Imagem 7" descr="Interface gráfica do usuário, Aplicativo&#10;&#10;O conteúdo gerado por IA pode estar incorreto.">
            <a:extLst>
              <a:ext uri="{FF2B5EF4-FFF2-40B4-BE49-F238E27FC236}">
                <a16:creationId xmlns:a16="http://schemas.microsoft.com/office/drawing/2014/main" id="{28B80230-385C-0F87-B5A0-96A2FFB871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2893" y="3011132"/>
            <a:ext cx="6537653" cy="3739982"/>
          </a:xfrm>
          <a:prstGeom prst="rect">
            <a:avLst/>
          </a:prstGeom>
          <a:ln w="38100">
            <a:solidFill>
              <a:schemeClr val="bg1">
                <a:lumMod val="75000"/>
              </a:schemeClr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E5794747-726A-B83B-6246-CAA17F2196B4}"/>
              </a:ext>
            </a:extLst>
          </p:cNvPr>
          <p:cNvSpPr txBox="1"/>
          <p:nvPr/>
        </p:nvSpPr>
        <p:spPr>
          <a:xfrm>
            <a:off x="5302893" y="1336831"/>
            <a:ext cx="2292225" cy="1477328"/>
          </a:xfrm>
          <a:prstGeom prst="rect">
            <a:avLst/>
          </a:prstGeom>
          <a:solidFill>
            <a:srgbClr val="006600">
              <a:alpha val="30196"/>
            </a:srgbClr>
          </a:solidFill>
          <a:ln w="19050"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Clicando na vaga, tem acesso aos candidatos e suas notas gerais ponderadas.</a:t>
            </a:r>
            <a:br>
              <a:rPr lang="pt-BR" dirty="0">
                <a:solidFill>
                  <a:schemeClr val="bg1"/>
                </a:solidFill>
              </a:rPr>
            </a:b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0E6B37C1-718F-9200-DD2D-24C369783139}"/>
              </a:ext>
            </a:extLst>
          </p:cNvPr>
          <p:cNvSpPr txBox="1"/>
          <p:nvPr/>
        </p:nvSpPr>
        <p:spPr>
          <a:xfrm>
            <a:off x="8450425" y="1345195"/>
            <a:ext cx="3063550" cy="923330"/>
          </a:xfrm>
          <a:prstGeom prst="rect">
            <a:avLst/>
          </a:prstGeom>
          <a:solidFill>
            <a:srgbClr val="006600">
              <a:alpha val="30196"/>
            </a:srgbClr>
          </a:solidFill>
          <a:ln w="19050"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Este botão permite acessar o link do formulário para envio aos candidatos.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2" name="Tinta 11">
                <a:extLst>
                  <a:ext uri="{FF2B5EF4-FFF2-40B4-BE49-F238E27FC236}">
                    <a16:creationId xmlns:a16="http://schemas.microsoft.com/office/drawing/2014/main" id="{F5B5E0D0-A78E-C1A7-CF59-8896AE40F54B}"/>
                  </a:ext>
                </a:extLst>
              </p14:cNvPr>
              <p14:cNvContentPartPr/>
              <p14:nvPr/>
            </p14:nvContentPartPr>
            <p14:xfrm>
              <a:off x="10311616" y="3085084"/>
              <a:ext cx="1623600" cy="387000"/>
            </p14:xfrm>
          </p:contentPart>
        </mc:Choice>
        <mc:Fallback>
          <p:pic>
            <p:nvPicPr>
              <p:cNvPr id="12" name="Tinta 11">
                <a:extLst>
                  <a:ext uri="{FF2B5EF4-FFF2-40B4-BE49-F238E27FC236}">
                    <a16:creationId xmlns:a16="http://schemas.microsoft.com/office/drawing/2014/main" id="{F5B5E0D0-A78E-C1A7-CF59-8896AE40F54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297576" y="3071044"/>
                <a:ext cx="1651680" cy="415440"/>
              </a:xfrm>
              <a:prstGeom prst="rect">
                <a:avLst/>
              </a:prstGeom>
            </p:spPr>
          </p:pic>
        </mc:Fallback>
      </mc:AlternateContent>
      <p:pic>
        <p:nvPicPr>
          <p:cNvPr id="14" name="Picture 2" descr="setas-png-1 (1) – Academia do Direito de Trânsito">
            <a:extLst>
              <a:ext uri="{FF2B5EF4-FFF2-40B4-BE49-F238E27FC236}">
                <a16:creationId xmlns:a16="http://schemas.microsoft.com/office/drawing/2014/main" id="{047E8D26-9C07-4C22-8242-1FAACB49548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98" r="60035" b="9226"/>
          <a:stretch>
            <a:fillRect/>
          </a:stretch>
        </p:blipFill>
        <p:spPr bwMode="auto">
          <a:xfrm rot="17208037" flipH="1">
            <a:off x="9431170" y="2380097"/>
            <a:ext cx="796595" cy="10358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535636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4DE1F8-91AB-15F7-E13F-CED0600184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50456A46-2371-4D95-8B36-85777F4DEFE8}"/>
              </a:ext>
            </a:extLst>
          </p:cNvPr>
          <p:cNvSpPr/>
          <p:nvPr/>
        </p:nvSpPr>
        <p:spPr>
          <a:xfrm>
            <a:off x="0" y="0"/>
            <a:ext cx="12192000" cy="1208092"/>
          </a:xfrm>
          <a:prstGeom prst="rect">
            <a:avLst/>
          </a:prstGeom>
          <a:solidFill>
            <a:srgbClr val="ABA5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3" name="Espaço Reservado para Número de Slide 12">
            <a:extLst>
              <a:ext uri="{FF2B5EF4-FFF2-40B4-BE49-F238E27FC236}">
                <a16:creationId xmlns:a16="http://schemas.microsoft.com/office/drawing/2014/main" id="{C6029644-C099-6E33-64D3-39B5DD670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6DA9C-1B67-4414-87EE-2B247BC281D7}" type="slidenum">
              <a:rPr lang="pt-BR" smtClean="0"/>
              <a:t>9</a:t>
            </a:fld>
            <a:endParaRPr lang="pt-BR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A8423B39-9349-F305-741C-72E8CA0EBA85}"/>
              </a:ext>
            </a:extLst>
          </p:cNvPr>
          <p:cNvSpPr txBox="1"/>
          <p:nvPr/>
        </p:nvSpPr>
        <p:spPr>
          <a:xfrm>
            <a:off x="1231640" y="17523"/>
            <a:ext cx="972871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Abadi Extra Light" panose="020B0204020104020204" pitchFamily="34" charset="0"/>
              </a:rPr>
              <a:t>R&amp;S com Objetividade e Transparência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7E92CA2A-AABF-1EFF-5DBD-FA07C2B258CD}"/>
              </a:ext>
            </a:extLst>
          </p:cNvPr>
          <p:cNvSpPr txBox="1"/>
          <p:nvPr/>
        </p:nvSpPr>
        <p:spPr>
          <a:xfrm>
            <a:off x="1299871" y="746427"/>
            <a:ext cx="27478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Nova" panose="020B0504020202020204" pitchFamily="34" charset="0"/>
              </a:rPr>
              <a:t>As funcionalidades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CEBF8DF-D6EE-589A-27BD-F82366E56F6D}"/>
              </a:ext>
            </a:extLst>
          </p:cNvPr>
          <p:cNvSpPr txBox="1"/>
          <p:nvPr/>
        </p:nvSpPr>
        <p:spPr>
          <a:xfrm>
            <a:off x="212770" y="1336831"/>
            <a:ext cx="11889034" cy="1200329"/>
          </a:xfrm>
          <a:prstGeom prst="rect">
            <a:avLst/>
          </a:prstGeom>
          <a:solidFill>
            <a:srgbClr val="006600">
              <a:alpha val="30196"/>
            </a:srgbClr>
          </a:solidFill>
          <a:ln w="19050"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Quando a vaga é criada pelo demandante, ou pelo profissional do RH, o sistema permite que o usuário copie as configurações de uma outra vaga existente, ou crie do zero. Existem 3 pilares: Triagem, Fit Cultural e Teste Técnico. Os critérios são totalmente customizáveis e possuem um peso associado que corresponde ao grau de importância relativa dentro de cada pilar. Portanto, a soma dos pesos dos critérios precisa ser 100% dentro do pilar.</a:t>
            </a:r>
          </a:p>
        </p:txBody>
      </p:sp>
      <p:pic>
        <p:nvPicPr>
          <p:cNvPr id="16" name="Imagem 15" descr="Interface gráfica do usuário, Aplicativo&#10;&#10;O conteúdo gerado por IA pode estar incorreto.">
            <a:extLst>
              <a:ext uri="{FF2B5EF4-FFF2-40B4-BE49-F238E27FC236}">
                <a16:creationId xmlns:a16="http://schemas.microsoft.com/office/drawing/2014/main" id="{0D246518-4B0A-5E75-ED60-AEC1DEE9628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793" t="24975" r="3905"/>
          <a:stretch>
            <a:fillRect/>
          </a:stretch>
        </p:blipFill>
        <p:spPr>
          <a:xfrm>
            <a:off x="212770" y="2665899"/>
            <a:ext cx="3662204" cy="2954120"/>
          </a:xfrm>
          <a:prstGeom prst="rect">
            <a:avLst/>
          </a:prstGeom>
        </p:spPr>
      </p:pic>
      <p:pic>
        <p:nvPicPr>
          <p:cNvPr id="18" name="Imagem 17" descr="Interface gráfica do usuário, Aplicativo&#10;&#10;O conteúdo gerado por IA pode estar incorreto.">
            <a:extLst>
              <a:ext uri="{FF2B5EF4-FFF2-40B4-BE49-F238E27FC236}">
                <a16:creationId xmlns:a16="http://schemas.microsoft.com/office/drawing/2014/main" id="{D636C590-3F54-362B-82E5-2419F4EF1CD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70" r="4209"/>
          <a:stretch>
            <a:fillRect/>
          </a:stretch>
        </p:blipFill>
        <p:spPr>
          <a:xfrm>
            <a:off x="3944951" y="2665899"/>
            <a:ext cx="3732244" cy="2308145"/>
          </a:xfrm>
          <a:prstGeom prst="rect">
            <a:avLst/>
          </a:prstGeom>
        </p:spPr>
      </p:pic>
      <p:pic>
        <p:nvPicPr>
          <p:cNvPr id="20" name="Imagem 19" descr="Interface gráfica do usuário, Aplicativo&#10;&#10;O conteúdo gerado por IA pode estar incorreto.">
            <a:extLst>
              <a:ext uri="{FF2B5EF4-FFF2-40B4-BE49-F238E27FC236}">
                <a16:creationId xmlns:a16="http://schemas.microsoft.com/office/drawing/2014/main" id="{3BA5D677-CE6F-B1D5-AA9F-9071A702D90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723" r="3878"/>
          <a:stretch>
            <a:fillRect/>
          </a:stretch>
        </p:blipFill>
        <p:spPr>
          <a:xfrm>
            <a:off x="7747172" y="2673678"/>
            <a:ext cx="3732244" cy="2308145"/>
          </a:xfrm>
          <a:prstGeom prst="rect">
            <a:avLst/>
          </a:prstGeom>
        </p:spPr>
      </p:pic>
      <p:sp>
        <p:nvSpPr>
          <p:cNvPr id="21" name="CaixaDeTexto 20">
            <a:extLst>
              <a:ext uri="{FF2B5EF4-FFF2-40B4-BE49-F238E27FC236}">
                <a16:creationId xmlns:a16="http://schemas.microsoft.com/office/drawing/2014/main" id="{1334A8D8-2235-227C-4525-E2D82BE3E207}"/>
              </a:ext>
            </a:extLst>
          </p:cNvPr>
          <p:cNvSpPr txBox="1"/>
          <p:nvPr/>
        </p:nvSpPr>
        <p:spPr>
          <a:xfrm>
            <a:off x="8012227" y="5244147"/>
            <a:ext cx="4066594" cy="1477328"/>
          </a:xfrm>
          <a:prstGeom prst="rect">
            <a:avLst/>
          </a:prstGeom>
          <a:solidFill>
            <a:srgbClr val="006600">
              <a:alpha val="30196"/>
            </a:srgbClr>
          </a:solidFill>
          <a:ln w="19050"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Para avaliar o candidato, o avaliador dá uma nota correspondente ao desempenho para cada critério. Essas notas são customizáveis na régua de notas, como mostra a imagem.</a:t>
            </a:r>
          </a:p>
        </p:txBody>
      </p:sp>
      <p:pic>
        <p:nvPicPr>
          <p:cNvPr id="23" name="Imagem 22" descr="Interface gráfica do usuário&#10;&#10;O conteúdo gerado por IA pode estar incorreto.">
            <a:extLst>
              <a:ext uri="{FF2B5EF4-FFF2-40B4-BE49-F238E27FC236}">
                <a16:creationId xmlns:a16="http://schemas.microsoft.com/office/drawing/2014/main" id="{32CE39AA-9BC7-2466-2392-293C5F856F3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178" t="7401" r="2000" b="5673"/>
          <a:stretch>
            <a:fillRect/>
          </a:stretch>
        </p:blipFill>
        <p:spPr>
          <a:xfrm>
            <a:off x="4473347" y="5228577"/>
            <a:ext cx="3472543" cy="1492898"/>
          </a:xfrm>
          <a:prstGeom prst="rect">
            <a:avLst/>
          </a:prstGeom>
        </p:spPr>
      </p:pic>
      <p:sp>
        <p:nvSpPr>
          <p:cNvPr id="24" name="CaixaDeTexto 23">
            <a:extLst>
              <a:ext uri="{FF2B5EF4-FFF2-40B4-BE49-F238E27FC236}">
                <a16:creationId xmlns:a16="http://schemas.microsoft.com/office/drawing/2014/main" id="{DF72010B-6F5B-08E7-B8F0-BCB76167FED3}"/>
              </a:ext>
            </a:extLst>
          </p:cNvPr>
          <p:cNvSpPr txBox="1"/>
          <p:nvPr/>
        </p:nvSpPr>
        <p:spPr>
          <a:xfrm>
            <a:off x="113179" y="5670926"/>
            <a:ext cx="4160241" cy="1169551"/>
          </a:xfrm>
          <a:prstGeom prst="rect">
            <a:avLst/>
          </a:prstGeom>
          <a:solidFill>
            <a:srgbClr val="006600">
              <a:alpha val="30196"/>
            </a:srgbClr>
          </a:solidFill>
          <a:ln w="19050"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chemeClr val="bg1"/>
                </a:solidFill>
              </a:rPr>
              <a:t>Por exemplo, uma vaga para assistente financeiro deveria ter um peso para Habilidades Soft muito maior do que para Experiência Geral (talvez, esse critério nem precisasse existir para a vaga). Também não precisasse de um pilar de Teste Técnico.</a:t>
            </a:r>
          </a:p>
        </p:txBody>
      </p:sp>
    </p:spTree>
    <p:extLst>
      <p:ext uri="{BB962C8B-B14F-4D97-AF65-F5344CB8AC3E}">
        <p14:creationId xmlns:p14="http://schemas.microsoft.com/office/powerpoint/2010/main" val="7584756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B0C9C8-73D6-A737-9351-BEE0D888AB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C958D995-2DC8-C6DB-7464-B8A0D2BB6039}"/>
              </a:ext>
            </a:extLst>
          </p:cNvPr>
          <p:cNvSpPr/>
          <p:nvPr/>
        </p:nvSpPr>
        <p:spPr>
          <a:xfrm>
            <a:off x="0" y="0"/>
            <a:ext cx="12192000" cy="1208092"/>
          </a:xfrm>
          <a:prstGeom prst="rect">
            <a:avLst/>
          </a:prstGeom>
          <a:solidFill>
            <a:srgbClr val="ABA5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3" name="Espaço Reservado para Número de Slide 12">
            <a:extLst>
              <a:ext uri="{FF2B5EF4-FFF2-40B4-BE49-F238E27FC236}">
                <a16:creationId xmlns:a16="http://schemas.microsoft.com/office/drawing/2014/main" id="{313A3BCC-7F08-304B-6F7B-F766B9D01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1915" y="6475352"/>
            <a:ext cx="2743200" cy="365125"/>
          </a:xfrm>
        </p:spPr>
        <p:txBody>
          <a:bodyPr/>
          <a:lstStyle/>
          <a:p>
            <a:fld id="{EC16DA9C-1B67-4414-87EE-2B247BC281D7}" type="slidenum">
              <a:rPr lang="pt-BR" smtClean="0">
                <a:solidFill>
                  <a:schemeClr val="bg1"/>
                </a:solidFill>
              </a:rPr>
              <a:t>10</a:t>
            </a:fld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F66E6753-A9BB-84E8-D48F-EBEFAEEA54D4}"/>
              </a:ext>
            </a:extLst>
          </p:cNvPr>
          <p:cNvSpPr txBox="1"/>
          <p:nvPr/>
        </p:nvSpPr>
        <p:spPr>
          <a:xfrm>
            <a:off x="1231640" y="17523"/>
            <a:ext cx="972871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Abadi Extra Light" panose="020B0204020104020204" pitchFamily="34" charset="0"/>
              </a:rPr>
              <a:t>R&amp;S com Objetividade e Transparência</a:t>
            </a:r>
          </a:p>
        </p:txBody>
      </p:sp>
      <p:pic>
        <p:nvPicPr>
          <p:cNvPr id="16" name="Imagem 15" descr="Interface gráfica do usuário, Aplicativo&#10;&#10;O conteúdo gerado por IA pode estar incorreto.">
            <a:extLst>
              <a:ext uri="{FF2B5EF4-FFF2-40B4-BE49-F238E27FC236}">
                <a16:creationId xmlns:a16="http://schemas.microsoft.com/office/drawing/2014/main" id="{36B0F01C-A562-3583-92B4-EC311CBD4D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85" y="1371162"/>
            <a:ext cx="6571992" cy="5350313"/>
          </a:xfrm>
          <a:prstGeom prst="rect">
            <a:avLst/>
          </a:prstGeom>
          <a:ln w="38100">
            <a:solidFill>
              <a:schemeClr val="bg1">
                <a:lumMod val="75000"/>
              </a:schemeClr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3F1F6B8F-2EFB-508A-7471-66CD7B805B68}"/>
              </a:ext>
            </a:extLst>
          </p:cNvPr>
          <p:cNvSpPr txBox="1"/>
          <p:nvPr/>
        </p:nvSpPr>
        <p:spPr>
          <a:xfrm>
            <a:off x="1299871" y="746427"/>
            <a:ext cx="27478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Nova" panose="020B0504020202020204" pitchFamily="34" charset="0"/>
              </a:rPr>
              <a:t>As funcionalidades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5D2E5C7-E249-6452-0E37-F1212EC32B85}"/>
              </a:ext>
            </a:extLst>
          </p:cNvPr>
          <p:cNvSpPr txBox="1"/>
          <p:nvPr/>
        </p:nvSpPr>
        <p:spPr>
          <a:xfrm>
            <a:off x="6895322" y="1371162"/>
            <a:ext cx="4954519" cy="4801314"/>
          </a:xfrm>
          <a:prstGeom prst="rect">
            <a:avLst/>
          </a:prstGeom>
          <a:solidFill>
            <a:srgbClr val="006600">
              <a:alpha val="30196"/>
            </a:srgbClr>
          </a:solidFill>
          <a:ln w="19050"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A partir da configuração da vaga e da candidatura efetuada, o avaliador pode realizar a sua avaliação usando a régua de notas definidas para cada um dos critérios. O sistema, então, calcula automaticamente a nota do usuário e a geral, considerando todos os avaliadores.</a:t>
            </a:r>
          </a:p>
          <a:p>
            <a:r>
              <a:rPr lang="pt-BR" dirty="0">
                <a:solidFill>
                  <a:schemeClr val="bg1"/>
                </a:solidFill>
              </a:rPr>
              <a:t>Como exemplo, em uma vaga de Desenvolvedor Full Stack, o profissional de RH poderia realizar a avaliação dos pilares Triagem e Fit Cultural. O demandante da vaga poderia fazer a avaliação de Fit Cultural e um especialista a avaliação do pilar Teste Técnico. Assim, a nota do candidato seria a composição de todas as avaliações ponderadas.</a:t>
            </a:r>
          </a:p>
          <a:p>
            <a:endParaRPr lang="pt-BR" dirty="0">
              <a:solidFill>
                <a:schemeClr val="bg1"/>
              </a:solidFill>
            </a:endParaRPr>
          </a:p>
          <a:p>
            <a:r>
              <a:rPr lang="pt-BR" dirty="0">
                <a:solidFill>
                  <a:schemeClr val="bg1"/>
                </a:solidFill>
              </a:rPr>
              <a:t>O usuário só tem acesso à sua própria avaliação, mas vê a Nota Global e as anotações dos outros avaliadores.</a:t>
            </a:r>
          </a:p>
        </p:txBody>
      </p:sp>
    </p:spTree>
    <p:extLst>
      <p:ext uri="{BB962C8B-B14F-4D97-AF65-F5344CB8AC3E}">
        <p14:creationId xmlns:p14="http://schemas.microsoft.com/office/powerpoint/2010/main" val="32892892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15D24D-146D-2AA4-2C9A-81208033B0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9B9FEB76-20B0-BCD7-7BE1-449663F32D6E}"/>
              </a:ext>
            </a:extLst>
          </p:cNvPr>
          <p:cNvSpPr/>
          <p:nvPr/>
        </p:nvSpPr>
        <p:spPr>
          <a:xfrm>
            <a:off x="0" y="0"/>
            <a:ext cx="12192000" cy="1208092"/>
          </a:xfrm>
          <a:prstGeom prst="rect">
            <a:avLst/>
          </a:prstGeom>
          <a:solidFill>
            <a:srgbClr val="ABA5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3" name="Espaço Reservado para Número de Slide 12">
            <a:extLst>
              <a:ext uri="{FF2B5EF4-FFF2-40B4-BE49-F238E27FC236}">
                <a16:creationId xmlns:a16="http://schemas.microsoft.com/office/drawing/2014/main" id="{74FDA367-6DBE-87AD-1266-737B21219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47629" y="6460125"/>
            <a:ext cx="2743200" cy="365125"/>
          </a:xfrm>
        </p:spPr>
        <p:txBody>
          <a:bodyPr/>
          <a:lstStyle/>
          <a:p>
            <a:fld id="{EC16DA9C-1B67-4414-87EE-2B247BC281D7}" type="slidenum">
              <a:rPr lang="pt-BR" smtClean="0">
                <a:solidFill>
                  <a:schemeClr val="bg1"/>
                </a:solidFill>
              </a:rPr>
              <a:t>11</a:t>
            </a:fld>
            <a:endParaRPr lang="pt-BR">
              <a:solidFill>
                <a:schemeClr val="bg1"/>
              </a:solidFill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00F757F8-6B69-A43D-2F8C-41B6D00D8ADD}"/>
              </a:ext>
            </a:extLst>
          </p:cNvPr>
          <p:cNvSpPr txBox="1"/>
          <p:nvPr/>
        </p:nvSpPr>
        <p:spPr>
          <a:xfrm>
            <a:off x="1231640" y="17523"/>
            <a:ext cx="972871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Abadi Extra Light" panose="020B0204020104020204" pitchFamily="34" charset="0"/>
              </a:rPr>
              <a:t>R&amp;S com Objetividade e Transparência</a:t>
            </a:r>
          </a:p>
        </p:txBody>
      </p:sp>
      <p:pic>
        <p:nvPicPr>
          <p:cNvPr id="20" name="Imagem 19" descr="Gráfico, Gráfico de barras&#10;&#10;O conteúdo gerado por IA pode estar incorreto.">
            <a:extLst>
              <a:ext uri="{FF2B5EF4-FFF2-40B4-BE49-F238E27FC236}">
                <a16:creationId xmlns:a16="http://schemas.microsoft.com/office/drawing/2014/main" id="{1590BF8B-2D11-B550-E27B-BFA1D68A3D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71" y="1327701"/>
            <a:ext cx="7578595" cy="5393774"/>
          </a:xfrm>
          <a:prstGeom prst="rect">
            <a:avLst/>
          </a:prstGeom>
          <a:ln w="38100">
            <a:solidFill>
              <a:schemeClr val="bg1">
                <a:lumMod val="75000"/>
              </a:schemeClr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B6E2D8B2-8642-D158-A08D-2EC24BC20D4F}"/>
              </a:ext>
            </a:extLst>
          </p:cNvPr>
          <p:cNvSpPr txBox="1"/>
          <p:nvPr/>
        </p:nvSpPr>
        <p:spPr>
          <a:xfrm>
            <a:off x="1299871" y="746427"/>
            <a:ext cx="27478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Nova" panose="020B0504020202020204" pitchFamily="34" charset="0"/>
              </a:rPr>
              <a:t>As funcionalidades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CD924D7-4E5B-8FC5-41FE-2F48A6CF6201}"/>
              </a:ext>
            </a:extLst>
          </p:cNvPr>
          <p:cNvSpPr txBox="1"/>
          <p:nvPr/>
        </p:nvSpPr>
        <p:spPr>
          <a:xfrm>
            <a:off x="7825992" y="1762430"/>
            <a:ext cx="4264837" cy="4524315"/>
          </a:xfrm>
          <a:prstGeom prst="rect">
            <a:avLst/>
          </a:prstGeom>
          <a:solidFill>
            <a:srgbClr val="006600">
              <a:alpha val="30196"/>
            </a:srgbClr>
          </a:solidFill>
          <a:ln w="19050"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Depois que todos os candidatos foram avaliados, o usuário pode ver a classificação (ranking) e graficamente comparar as notas dadas a cada candidato em cada um dos pilares.</a:t>
            </a:r>
          </a:p>
          <a:p>
            <a:r>
              <a:rPr lang="pt-BR" dirty="0">
                <a:solidFill>
                  <a:schemeClr val="bg1"/>
                </a:solidFill>
              </a:rPr>
              <a:t>Pode-se filtrar o avaliador e o critério. Ou seja, o usuário pode ver como cada um dos avaliadores avaliou cada um dos candidatos por cada um dos critérios.</a:t>
            </a:r>
          </a:p>
          <a:p>
            <a:endParaRPr lang="pt-BR" dirty="0">
              <a:solidFill>
                <a:schemeClr val="bg1"/>
              </a:solidFill>
            </a:endParaRPr>
          </a:p>
          <a:p>
            <a:r>
              <a:rPr lang="pt-BR" dirty="0">
                <a:solidFill>
                  <a:schemeClr val="bg1"/>
                </a:solidFill>
              </a:rPr>
              <a:t>Detalhe: pode-se criar um candidato ideal para efeito de parâmetro. Ou seja, um candidato padrão para a vaga pode ser criado e suas notas atribuídas de forma a ser o ideal da vaga. Assim, os candidatos reais serão comparados a ele.</a:t>
            </a:r>
          </a:p>
        </p:txBody>
      </p:sp>
    </p:spTree>
    <p:extLst>
      <p:ext uri="{BB962C8B-B14F-4D97-AF65-F5344CB8AC3E}">
        <p14:creationId xmlns:p14="http://schemas.microsoft.com/office/powerpoint/2010/main" val="4476889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D4508C-7F2E-D05E-838B-D21B011CD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4BF04B8A-B763-33AA-E963-4888C74E236E}"/>
              </a:ext>
            </a:extLst>
          </p:cNvPr>
          <p:cNvSpPr/>
          <p:nvPr/>
        </p:nvSpPr>
        <p:spPr>
          <a:xfrm>
            <a:off x="0" y="0"/>
            <a:ext cx="12192000" cy="1208092"/>
          </a:xfrm>
          <a:prstGeom prst="rect">
            <a:avLst/>
          </a:prstGeom>
          <a:solidFill>
            <a:srgbClr val="ABA5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3" name="Espaço Reservado para Número de Slide 12">
            <a:extLst>
              <a:ext uri="{FF2B5EF4-FFF2-40B4-BE49-F238E27FC236}">
                <a16:creationId xmlns:a16="http://schemas.microsoft.com/office/drawing/2014/main" id="{62C02DC9-BD90-B0E5-81D8-A0D622491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6DA9C-1B67-4414-87EE-2B247BC281D7}" type="slidenum">
              <a:rPr lang="pt-BR" smtClean="0"/>
              <a:t>12</a:t>
            </a:fld>
            <a:endParaRPr lang="pt-BR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67963F21-DB2E-D520-F875-741C0E3C6062}"/>
              </a:ext>
            </a:extLst>
          </p:cNvPr>
          <p:cNvSpPr txBox="1"/>
          <p:nvPr/>
        </p:nvSpPr>
        <p:spPr>
          <a:xfrm>
            <a:off x="1231640" y="17523"/>
            <a:ext cx="972871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Abadi Extra Light" panose="020B0204020104020204" pitchFamily="34" charset="0"/>
              </a:rPr>
              <a:t>R&amp;S com Objetividade e Transparência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3BDDE887-3A2F-341A-F2C3-43651129C739}"/>
              </a:ext>
            </a:extLst>
          </p:cNvPr>
          <p:cNvSpPr txBox="1"/>
          <p:nvPr/>
        </p:nvSpPr>
        <p:spPr>
          <a:xfrm>
            <a:off x="1299871" y="746427"/>
            <a:ext cx="27478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Nova" panose="020B0504020202020204" pitchFamily="34" charset="0"/>
              </a:rPr>
              <a:t>As funcionalidades</a:t>
            </a:r>
          </a:p>
        </p:txBody>
      </p:sp>
      <p:pic>
        <p:nvPicPr>
          <p:cNvPr id="5" name="Imagem 4" descr="Interface gráfica do usuário&#10;&#10;O conteúdo gerado por IA pode estar incorreto.">
            <a:extLst>
              <a:ext uri="{FF2B5EF4-FFF2-40B4-BE49-F238E27FC236}">
                <a16:creationId xmlns:a16="http://schemas.microsoft.com/office/drawing/2014/main" id="{2D92A68E-981A-9316-110E-6BE9C5929B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1073" y="1328926"/>
            <a:ext cx="3804332" cy="5392549"/>
          </a:xfrm>
          <a:prstGeom prst="rect">
            <a:avLst/>
          </a:prstGeom>
          <a:ln w="38100">
            <a:solidFill>
              <a:schemeClr val="bg1">
                <a:lumMod val="75000"/>
              </a:schemeClr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F0998B75-0CE9-497A-F251-DEC44E030E30}"/>
              </a:ext>
            </a:extLst>
          </p:cNvPr>
          <p:cNvSpPr txBox="1"/>
          <p:nvPr/>
        </p:nvSpPr>
        <p:spPr>
          <a:xfrm>
            <a:off x="5438912" y="3332207"/>
            <a:ext cx="5160664" cy="1477328"/>
          </a:xfrm>
          <a:prstGeom prst="rect">
            <a:avLst/>
          </a:prstGeom>
          <a:solidFill>
            <a:srgbClr val="006600">
              <a:alpha val="30196"/>
            </a:srgbClr>
          </a:solidFill>
          <a:ln w="19050"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Uma lista com os candidatos aprovados é gerada e as suas informações de contato são disponibilizadas. Se tiver o número do telefone móvel, um ícone de Whatsapp estará disponível para entrar em contato. Da mesma forma, o </a:t>
            </a:r>
            <a:r>
              <a:rPr lang="pt-BR" dirty="0" err="1">
                <a:solidFill>
                  <a:schemeClr val="bg1"/>
                </a:solidFill>
              </a:rPr>
              <a:t>email</a:t>
            </a:r>
            <a:r>
              <a:rPr lang="pt-BR" dirty="0">
                <a:solidFill>
                  <a:schemeClr val="bg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281340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58A00F-A408-7209-A5B3-B184062864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6298D9BB-00FC-12A8-AE9D-DFD37B787BD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2389" r="11301"/>
          <a:stretch>
            <a:fillRect/>
          </a:stretch>
        </p:blipFill>
        <p:spPr>
          <a:xfrm>
            <a:off x="0" y="0"/>
            <a:ext cx="2482517" cy="6858000"/>
          </a:xfrm>
          <a:prstGeom prst="rect">
            <a:avLst/>
          </a:prstGeom>
        </p:spPr>
      </p:pic>
      <p:sp>
        <p:nvSpPr>
          <p:cNvPr id="13" name="Espaço Reservado para Número de Slide 12">
            <a:extLst>
              <a:ext uri="{FF2B5EF4-FFF2-40B4-BE49-F238E27FC236}">
                <a16:creationId xmlns:a16="http://schemas.microsoft.com/office/drawing/2014/main" id="{6E8489F3-9871-30AA-6422-466425279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6DA9C-1B67-4414-87EE-2B247BC281D7}" type="slidenum">
              <a:rPr lang="pt-BR" smtClean="0"/>
              <a:t>13</a:t>
            </a:fld>
            <a:endParaRPr lang="pt-BR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B2277A24-F15B-DC27-66D1-1024D4361597}"/>
              </a:ext>
            </a:extLst>
          </p:cNvPr>
          <p:cNvSpPr txBox="1"/>
          <p:nvPr/>
        </p:nvSpPr>
        <p:spPr>
          <a:xfrm>
            <a:off x="2476499" y="2555680"/>
            <a:ext cx="723899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pt-BR" sz="5400" b="1" dirty="0" err="1">
                <a:solidFill>
                  <a:schemeClr val="bg1"/>
                </a:solidFill>
              </a:rPr>
              <a:t>Novva</a:t>
            </a:r>
            <a:r>
              <a:rPr lang="pt-BR" sz="5400" b="1" dirty="0">
                <a:solidFill>
                  <a:schemeClr val="bg1"/>
                </a:solidFill>
              </a:rPr>
              <a:t> R&amp;S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3FDAE95A-AB9D-42EC-073A-498EE653BBE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6764" y="213374"/>
            <a:ext cx="1278472" cy="657212"/>
          </a:xfrm>
          <a:prstGeom prst="rect">
            <a:avLst/>
          </a:prstGeom>
        </p:spPr>
      </p:pic>
      <p:pic>
        <p:nvPicPr>
          <p:cNvPr id="12" name="Imagem 11" descr="Gráfico, Gráfico de barras&#10;&#10;O conteúdo gerado por IA pode estar incorreto.">
            <a:extLst>
              <a:ext uri="{FF2B5EF4-FFF2-40B4-BE49-F238E27FC236}">
                <a16:creationId xmlns:a16="http://schemas.microsoft.com/office/drawing/2014/main" id="{00D17B67-0FC1-C88A-9114-4D53440CEC3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-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721516" y="2406"/>
            <a:ext cx="2482517" cy="6855594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994D8825-316E-443D-B3E9-113502C1299F}"/>
              </a:ext>
            </a:extLst>
          </p:cNvPr>
          <p:cNvSpPr txBox="1"/>
          <p:nvPr/>
        </p:nvSpPr>
        <p:spPr>
          <a:xfrm>
            <a:off x="3515667" y="5164105"/>
            <a:ext cx="5160664" cy="646331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Eider Arantes de Oliveira</a:t>
            </a:r>
          </a:p>
          <a:p>
            <a:pPr algn="ctr"/>
            <a:r>
              <a:rPr lang="pt-BR" dirty="0">
                <a:solidFill>
                  <a:schemeClr val="bg1"/>
                </a:solidFill>
              </a:rPr>
              <a:t>(34) 99977-5266</a:t>
            </a:r>
          </a:p>
        </p:txBody>
      </p:sp>
    </p:spTree>
    <p:extLst>
      <p:ext uri="{BB962C8B-B14F-4D97-AF65-F5344CB8AC3E}">
        <p14:creationId xmlns:p14="http://schemas.microsoft.com/office/powerpoint/2010/main" val="148846880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3751</TotalTime>
  <Words>1577</Words>
  <Application>Microsoft Office PowerPoint</Application>
  <PresentationFormat>Widescreen</PresentationFormat>
  <Paragraphs>130</Paragraphs>
  <Slides>13</Slides>
  <Notes>3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20" baseType="lpstr">
      <vt:lpstr>Abadi Extra Light</vt:lpstr>
      <vt:lpstr>Arial</vt:lpstr>
      <vt:lpstr>Arial Nova</vt:lpstr>
      <vt:lpstr>Calibri</vt:lpstr>
      <vt:lpstr>Calibri Light</vt:lpstr>
      <vt:lpstr>Inter-Regular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Eider Arantes de Oliveira</dc:creator>
  <cp:lastModifiedBy>Eider Arantes de Oliveira</cp:lastModifiedBy>
  <cp:revision>4</cp:revision>
  <dcterms:created xsi:type="dcterms:W3CDTF">2026-01-12T10:55:38Z</dcterms:created>
  <dcterms:modified xsi:type="dcterms:W3CDTF">2026-01-15T01:26:52Z</dcterms:modified>
</cp:coreProperties>
</file>
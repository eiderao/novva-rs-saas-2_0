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7" r:id="rId2"/>
    <p:sldId id="258" r:id="rId3"/>
    <p:sldId id="266" r:id="rId4"/>
    <p:sldId id="268" r:id="rId5"/>
    <p:sldId id="26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33CCFF"/>
    <a:srgbClr val="008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82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5C4643-1C6C-412E-ADBC-32B70A08FC93}" type="doc">
      <dgm:prSet loTypeId="urn:microsoft.com/office/officeart/2005/8/layout/cycle1" loCatId="cycle" qsTypeId="urn:microsoft.com/office/officeart/2005/8/quickstyle/3d4" qsCatId="3D" csTypeId="urn:microsoft.com/office/officeart/2005/8/colors/accent0_1" csCatId="mainScheme" phldr="1"/>
      <dgm:spPr/>
      <dgm:t>
        <a:bodyPr/>
        <a:lstStyle/>
        <a:p>
          <a:endParaRPr lang="pt-BR"/>
        </a:p>
      </dgm:t>
    </dgm:pt>
    <dgm:pt modelId="{5CF91FB1-5F45-4B1D-894C-3765E46B4FF0}">
      <dgm:prSet phldrT="[Texto]" phldr="0"/>
      <dgm:spPr/>
      <dgm:t>
        <a:bodyPr/>
        <a:lstStyle/>
        <a:p>
          <a:r>
            <a:rPr lang="pt-BR" dirty="0"/>
            <a:t> </a:t>
          </a:r>
        </a:p>
      </dgm:t>
    </dgm:pt>
    <dgm:pt modelId="{8C914A30-B33A-4509-B455-D51DEFF7DB4F}" type="parTrans" cxnId="{02D4BDDA-F66B-4C91-A0BD-E4AC50E42DF3}">
      <dgm:prSet/>
      <dgm:spPr/>
      <dgm:t>
        <a:bodyPr/>
        <a:lstStyle/>
        <a:p>
          <a:endParaRPr lang="pt-BR"/>
        </a:p>
      </dgm:t>
    </dgm:pt>
    <dgm:pt modelId="{1730F7B2-B67A-4DC6-8291-9695A7E1E3CF}" type="sibTrans" cxnId="{02D4BDDA-F66B-4C91-A0BD-E4AC50E42DF3}">
      <dgm:prSet/>
      <dgm:spPr/>
      <dgm:t>
        <a:bodyPr/>
        <a:lstStyle/>
        <a:p>
          <a:endParaRPr lang="pt-BR"/>
        </a:p>
      </dgm:t>
    </dgm:pt>
    <dgm:pt modelId="{363E7749-B696-4622-90E2-587F4A9F8B3C}">
      <dgm:prSet phldrT="[Texto]" phldr="0"/>
      <dgm:spPr/>
      <dgm:t>
        <a:bodyPr/>
        <a:lstStyle/>
        <a:p>
          <a:endParaRPr lang="pt-BR" dirty="0"/>
        </a:p>
      </dgm:t>
    </dgm:pt>
    <dgm:pt modelId="{164FB097-379D-4BA4-B740-AC617FACDC94}" type="parTrans" cxnId="{A2E3BE35-3EF1-4343-95D1-C665884015F0}">
      <dgm:prSet/>
      <dgm:spPr/>
      <dgm:t>
        <a:bodyPr/>
        <a:lstStyle/>
        <a:p>
          <a:endParaRPr lang="pt-BR"/>
        </a:p>
      </dgm:t>
    </dgm:pt>
    <dgm:pt modelId="{F92381A8-3F07-42F4-803A-1B24C5303B9B}" type="sibTrans" cxnId="{A2E3BE35-3EF1-4343-95D1-C665884015F0}">
      <dgm:prSet/>
      <dgm:spPr/>
      <dgm:t>
        <a:bodyPr/>
        <a:lstStyle/>
        <a:p>
          <a:endParaRPr lang="pt-BR"/>
        </a:p>
      </dgm:t>
    </dgm:pt>
    <dgm:pt modelId="{5E74F9A6-8D50-494A-88A8-BCD4019800A3}">
      <dgm:prSet phldrT="[Texto]" phldr="0"/>
      <dgm:spPr/>
      <dgm:t>
        <a:bodyPr/>
        <a:lstStyle/>
        <a:p>
          <a:endParaRPr lang="pt-BR" dirty="0"/>
        </a:p>
      </dgm:t>
    </dgm:pt>
    <dgm:pt modelId="{07D6597E-36E0-4EF6-913D-2A487C407712}" type="parTrans" cxnId="{60248484-745B-4DA0-BC86-1F13CFE8A1AA}">
      <dgm:prSet/>
      <dgm:spPr/>
      <dgm:t>
        <a:bodyPr/>
        <a:lstStyle/>
        <a:p>
          <a:endParaRPr lang="pt-BR"/>
        </a:p>
      </dgm:t>
    </dgm:pt>
    <dgm:pt modelId="{C03805D5-EA2E-44FF-B3E8-628B942F9B63}" type="sibTrans" cxnId="{60248484-745B-4DA0-BC86-1F13CFE8A1AA}">
      <dgm:prSet/>
      <dgm:spPr/>
      <dgm:t>
        <a:bodyPr/>
        <a:lstStyle/>
        <a:p>
          <a:endParaRPr lang="pt-BR"/>
        </a:p>
      </dgm:t>
    </dgm:pt>
    <dgm:pt modelId="{EA2C8ECF-12D7-44A4-89B4-054B85616010}">
      <dgm:prSet phldrT="[Texto]" phldr="0"/>
      <dgm:spPr/>
      <dgm:t>
        <a:bodyPr/>
        <a:lstStyle/>
        <a:p>
          <a:endParaRPr lang="pt-BR" dirty="0"/>
        </a:p>
      </dgm:t>
    </dgm:pt>
    <dgm:pt modelId="{CF24B3EC-0FD3-458F-93DB-C5A5BB9E6644}" type="parTrans" cxnId="{B895ACF2-A24E-4550-9D6F-5FA93A30C453}">
      <dgm:prSet/>
      <dgm:spPr/>
      <dgm:t>
        <a:bodyPr/>
        <a:lstStyle/>
        <a:p>
          <a:endParaRPr lang="pt-BR"/>
        </a:p>
      </dgm:t>
    </dgm:pt>
    <dgm:pt modelId="{8487DEFA-277C-4F4F-91A3-4690B70EF3BD}" type="sibTrans" cxnId="{B895ACF2-A24E-4550-9D6F-5FA93A30C453}">
      <dgm:prSet/>
      <dgm:spPr/>
      <dgm:t>
        <a:bodyPr/>
        <a:lstStyle/>
        <a:p>
          <a:endParaRPr lang="pt-BR"/>
        </a:p>
      </dgm:t>
    </dgm:pt>
    <dgm:pt modelId="{DB251FF9-AB05-40E5-B26F-CFB739623E96}">
      <dgm:prSet phldrT="[Texto]" phldr="0"/>
      <dgm:spPr/>
      <dgm:t>
        <a:bodyPr/>
        <a:lstStyle/>
        <a:p>
          <a:endParaRPr lang="pt-BR" dirty="0"/>
        </a:p>
      </dgm:t>
    </dgm:pt>
    <dgm:pt modelId="{2B4F6E5C-6E92-4CDD-BB32-C04DA23D8376}" type="parTrans" cxnId="{1DB9DC9F-B97D-4420-8AE1-9291EE75516D}">
      <dgm:prSet/>
      <dgm:spPr/>
      <dgm:t>
        <a:bodyPr/>
        <a:lstStyle/>
        <a:p>
          <a:endParaRPr lang="pt-BR"/>
        </a:p>
      </dgm:t>
    </dgm:pt>
    <dgm:pt modelId="{F620F8B2-73D7-4EBA-8320-A8D1839AD980}" type="sibTrans" cxnId="{1DB9DC9F-B97D-4420-8AE1-9291EE75516D}">
      <dgm:prSet/>
      <dgm:spPr/>
      <dgm:t>
        <a:bodyPr/>
        <a:lstStyle/>
        <a:p>
          <a:endParaRPr lang="pt-BR"/>
        </a:p>
      </dgm:t>
    </dgm:pt>
    <dgm:pt modelId="{0E2B25F2-FFAE-41A5-98BB-F2EC09CDF405}" type="pres">
      <dgm:prSet presAssocID="{BC5C4643-1C6C-412E-ADBC-32B70A08FC93}" presName="cycle" presStyleCnt="0">
        <dgm:presLayoutVars>
          <dgm:dir/>
          <dgm:resizeHandles val="exact"/>
        </dgm:presLayoutVars>
      </dgm:prSet>
      <dgm:spPr/>
    </dgm:pt>
    <dgm:pt modelId="{06587921-553A-45FD-9D29-5B3A77FBA3AC}" type="pres">
      <dgm:prSet presAssocID="{5CF91FB1-5F45-4B1D-894C-3765E46B4FF0}" presName="dummy" presStyleCnt="0"/>
      <dgm:spPr/>
    </dgm:pt>
    <dgm:pt modelId="{86D840C4-898D-400D-A5AA-C5D1B6ABFCCA}" type="pres">
      <dgm:prSet presAssocID="{5CF91FB1-5F45-4B1D-894C-3765E46B4FF0}" presName="node" presStyleLbl="revTx" presStyleIdx="0" presStyleCnt="5">
        <dgm:presLayoutVars>
          <dgm:bulletEnabled val="1"/>
        </dgm:presLayoutVars>
      </dgm:prSet>
      <dgm:spPr/>
    </dgm:pt>
    <dgm:pt modelId="{27B2B74E-5FF7-4229-BF46-665B1F468277}" type="pres">
      <dgm:prSet presAssocID="{1730F7B2-B67A-4DC6-8291-9695A7E1E3CF}" presName="sibTrans" presStyleLbl="node1" presStyleIdx="0" presStyleCnt="5"/>
      <dgm:spPr/>
    </dgm:pt>
    <dgm:pt modelId="{916F9320-97A2-4D6F-93E0-BFD961875CF1}" type="pres">
      <dgm:prSet presAssocID="{363E7749-B696-4622-90E2-587F4A9F8B3C}" presName="dummy" presStyleCnt="0"/>
      <dgm:spPr/>
    </dgm:pt>
    <dgm:pt modelId="{10489DA5-320B-4536-A2DB-1B96092CC955}" type="pres">
      <dgm:prSet presAssocID="{363E7749-B696-4622-90E2-587F4A9F8B3C}" presName="node" presStyleLbl="revTx" presStyleIdx="1" presStyleCnt="5">
        <dgm:presLayoutVars>
          <dgm:bulletEnabled val="1"/>
        </dgm:presLayoutVars>
      </dgm:prSet>
      <dgm:spPr/>
    </dgm:pt>
    <dgm:pt modelId="{5208A0C7-7706-44C8-BDED-F5D8887FEAD5}" type="pres">
      <dgm:prSet presAssocID="{F92381A8-3F07-42F4-803A-1B24C5303B9B}" presName="sibTrans" presStyleLbl="node1" presStyleIdx="1" presStyleCnt="5"/>
      <dgm:spPr/>
    </dgm:pt>
    <dgm:pt modelId="{8B149A5B-7AA1-4741-BAB6-11402BFB494C}" type="pres">
      <dgm:prSet presAssocID="{5E74F9A6-8D50-494A-88A8-BCD4019800A3}" presName="dummy" presStyleCnt="0"/>
      <dgm:spPr/>
    </dgm:pt>
    <dgm:pt modelId="{5E5EBD95-C809-4290-8A85-29CD4315B46D}" type="pres">
      <dgm:prSet presAssocID="{5E74F9A6-8D50-494A-88A8-BCD4019800A3}" presName="node" presStyleLbl="revTx" presStyleIdx="2" presStyleCnt="5">
        <dgm:presLayoutVars>
          <dgm:bulletEnabled val="1"/>
        </dgm:presLayoutVars>
      </dgm:prSet>
      <dgm:spPr/>
    </dgm:pt>
    <dgm:pt modelId="{5043AF15-9AC3-4B3A-814F-39138C31FA19}" type="pres">
      <dgm:prSet presAssocID="{C03805D5-EA2E-44FF-B3E8-628B942F9B63}" presName="sibTrans" presStyleLbl="node1" presStyleIdx="2" presStyleCnt="5"/>
      <dgm:spPr/>
    </dgm:pt>
    <dgm:pt modelId="{5AA5FE83-D716-481E-8EA0-C4C33FD0D2BB}" type="pres">
      <dgm:prSet presAssocID="{EA2C8ECF-12D7-44A4-89B4-054B85616010}" presName="dummy" presStyleCnt="0"/>
      <dgm:spPr/>
    </dgm:pt>
    <dgm:pt modelId="{25F24B1D-A966-4679-AD8F-7CEBDCA7460C}" type="pres">
      <dgm:prSet presAssocID="{EA2C8ECF-12D7-44A4-89B4-054B85616010}" presName="node" presStyleLbl="revTx" presStyleIdx="3" presStyleCnt="5">
        <dgm:presLayoutVars>
          <dgm:bulletEnabled val="1"/>
        </dgm:presLayoutVars>
      </dgm:prSet>
      <dgm:spPr/>
    </dgm:pt>
    <dgm:pt modelId="{EF12257B-C09A-44EC-8A52-1B2E8C4757BE}" type="pres">
      <dgm:prSet presAssocID="{8487DEFA-277C-4F4F-91A3-4690B70EF3BD}" presName="sibTrans" presStyleLbl="node1" presStyleIdx="3" presStyleCnt="5"/>
      <dgm:spPr/>
    </dgm:pt>
    <dgm:pt modelId="{B6B08E2B-3214-479C-A89E-AD1FB7200424}" type="pres">
      <dgm:prSet presAssocID="{DB251FF9-AB05-40E5-B26F-CFB739623E96}" presName="dummy" presStyleCnt="0"/>
      <dgm:spPr/>
    </dgm:pt>
    <dgm:pt modelId="{CC2B2678-2166-40BF-BFE8-48B127E41CCB}" type="pres">
      <dgm:prSet presAssocID="{DB251FF9-AB05-40E5-B26F-CFB739623E96}" presName="node" presStyleLbl="revTx" presStyleIdx="4" presStyleCnt="5">
        <dgm:presLayoutVars>
          <dgm:bulletEnabled val="1"/>
        </dgm:presLayoutVars>
      </dgm:prSet>
      <dgm:spPr/>
    </dgm:pt>
    <dgm:pt modelId="{6FD8CB1B-A8B0-4A83-8FB3-C25A29B3CC7A}" type="pres">
      <dgm:prSet presAssocID="{F620F8B2-73D7-4EBA-8320-A8D1839AD980}" presName="sibTrans" presStyleLbl="node1" presStyleIdx="4" presStyleCnt="5" custLinFactNeighborX="186" custLinFactNeighborY="526"/>
      <dgm:spPr/>
    </dgm:pt>
  </dgm:ptLst>
  <dgm:cxnLst>
    <dgm:cxn modelId="{66BFA404-2962-4A14-8B32-9038911784F5}" type="presOf" srcId="{BC5C4643-1C6C-412E-ADBC-32B70A08FC93}" destId="{0E2B25F2-FFAE-41A5-98BB-F2EC09CDF405}" srcOrd="0" destOrd="0" presId="urn:microsoft.com/office/officeart/2005/8/layout/cycle1"/>
    <dgm:cxn modelId="{A2E3BE35-3EF1-4343-95D1-C665884015F0}" srcId="{BC5C4643-1C6C-412E-ADBC-32B70A08FC93}" destId="{363E7749-B696-4622-90E2-587F4A9F8B3C}" srcOrd="1" destOrd="0" parTransId="{164FB097-379D-4BA4-B740-AC617FACDC94}" sibTransId="{F92381A8-3F07-42F4-803A-1B24C5303B9B}"/>
    <dgm:cxn modelId="{35EEDF3D-DF67-4112-8A31-869333FC7331}" type="presOf" srcId="{F620F8B2-73D7-4EBA-8320-A8D1839AD980}" destId="{6FD8CB1B-A8B0-4A83-8FB3-C25A29B3CC7A}" srcOrd="0" destOrd="0" presId="urn:microsoft.com/office/officeart/2005/8/layout/cycle1"/>
    <dgm:cxn modelId="{58408765-680F-49B0-8AAA-64E792D299ED}" type="presOf" srcId="{DB251FF9-AB05-40E5-B26F-CFB739623E96}" destId="{CC2B2678-2166-40BF-BFE8-48B127E41CCB}" srcOrd="0" destOrd="0" presId="urn:microsoft.com/office/officeart/2005/8/layout/cycle1"/>
    <dgm:cxn modelId="{4C002747-3A9D-4664-8769-B1E0C35BFC72}" type="presOf" srcId="{1730F7B2-B67A-4DC6-8291-9695A7E1E3CF}" destId="{27B2B74E-5FF7-4229-BF46-665B1F468277}" srcOrd="0" destOrd="0" presId="urn:microsoft.com/office/officeart/2005/8/layout/cycle1"/>
    <dgm:cxn modelId="{E9042959-541F-4F2B-B1C2-C54E3F153A66}" type="presOf" srcId="{5CF91FB1-5F45-4B1D-894C-3765E46B4FF0}" destId="{86D840C4-898D-400D-A5AA-C5D1B6ABFCCA}" srcOrd="0" destOrd="0" presId="urn:microsoft.com/office/officeart/2005/8/layout/cycle1"/>
    <dgm:cxn modelId="{60248484-745B-4DA0-BC86-1F13CFE8A1AA}" srcId="{BC5C4643-1C6C-412E-ADBC-32B70A08FC93}" destId="{5E74F9A6-8D50-494A-88A8-BCD4019800A3}" srcOrd="2" destOrd="0" parTransId="{07D6597E-36E0-4EF6-913D-2A487C407712}" sibTransId="{C03805D5-EA2E-44FF-B3E8-628B942F9B63}"/>
    <dgm:cxn modelId="{97B6399B-A4D0-4025-918C-537E497503A0}" type="presOf" srcId="{5E74F9A6-8D50-494A-88A8-BCD4019800A3}" destId="{5E5EBD95-C809-4290-8A85-29CD4315B46D}" srcOrd="0" destOrd="0" presId="urn:microsoft.com/office/officeart/2005/8/layout/cycle1"/>
    <dgm:cxn modelId="{1DB9DC9F-B97D-4420-8AE1-9291EE75516D}" srcId="{BC5C4643-1C6C-412E-ADBC-32B70A08FC93}" destId="{DB251FF9-AB05-40E5-B26F-CFB739623E96}" srcOrd="4" destOrd="0" parTransId="{2B4F6E5C-6E92-4CDD-BB32-C04DA23D8376}" sibTransId="{F620F8B2-73D7-4EBA-8320-A8D1839AD980}"/>
    <dgm:cxn modelId="{CCD39DA2-156E-4584-AB12-FB7CB2C2EBB9}" type="presOf" srcId="{363E7749-B696-4622-90E2-587F4A9F8B3C}" destId="{10489DA5-320B-4536-A2DB-1B96092CC955}" srcOrd="0" destOrd="0" presId="urn:microsoft.com/office/officeart/2005/8/layout/cycle1"/>
    <dgm:cxn modelId="{3ABAA4BD-86F4-496D-8EC2-F91C9A93BA7A}" type="presOf" srcId="{EA2C8ECF-12D7-44A4-89B4-054B85616010}" destId="{25F24B1D-A966-4679-AD8F-7CEBDCA7460C}" srcOrd="0" destOrd="0" presId="urn:microsoft.com/office/officeart/2005/8/layout/cycle1"/>
    <dgm:cxn modelId="{5971B1C1-773C-484E-A503-A12EEA1006EF}" type="presOf" srcId="{8487DEFA-277C-4F4F-91A3-4690B70EF3BD}" destId="{EF12257B-C09A-44EC-8A52-1B2E8C4757BE}" srcOrd="0" destOrd="0" presId="urn:microsoft.com/office/officeart/2005/8/layout/cycle1"/>
    <dgm:cxn modelId="{45CFFAC1-F319-4EB3-B57A-D1F90A56D3B3}" type="presOf" srcId="{F92381A8-3F07-42F4-803A-1B24C5303B9B}" destId="{5208A0C7-7706-44C8-BDED-F5D8887FEAD5}" srcOrd="0" destOrd="0" presId="urn:microsoft.com/office/officeart/2005/8/layout/cycle1"/>
    <dgm:cxn modelId="{02D4BDDA-F66B-4C91-A0BD-E4AC50E42DF3}" srcId="{BC5C4643-1C6C-412E-ADBC-32B70A08FC93}" destId="{5CF91FB1-5F45-4B1D-894C-3765E46B4FF0}" srcOrd="0" destOrd="0" parTransId="{8C914A30-B33A-4509-B455-D51DEFF7DB4F}" sibTransId="{1730F7B2-B67A-4DC6-8291-9695A7E1E3CF}"/>
    <dgm:cxn modelId="{6F018FDF-6AE7-4383-9B21-1285301CB119}" type="presOf" srcId="{C03805D5-EA2E-44FF-B3E8-628B942F9B63}" destId="{5043AF15-9AC3-4B3A-814F-39138C31FA19}" srcOrd="0" destOrd="0" presId="urn:microsoft.com/office/officeart/2005/8/layout/cycle1"/>
    <dgm:cxn modelId="{B895ACF2-A24E-4550-9D6F-5FA93A30C453}" srcId="{BC5C4643-1C6C-412E-ADBC-32B70A08FC93}" destId="{EA2C8ECF-12D7-44A4-89B4-054B85616010}" srcOrd="3" destOrd="0" parTransId="{CF24B3EC-0FD3-458F-93DB-C5A5BB9E6644}" sibTransId="{8487DEFA-277C-4F4F-91A3-4690B70EF3BD}"/>
    <dgm:cxn modelId="{8D91229D-E82C-44DD-9F37-9B814EF34A6D}" type="presParOf" srcId="{0E2B25F2-FFAE-41A5-98BB-F2EC09CDF405}" destId="{06587921-553A-45FD-9D29-5B3A77FBA3AC}" srcOrd="0" destOrd="0" presId="urn:microsoft.com/office/officeart/2005/8/layout/cycle1"/>
    <dgm:cxn modelId="{47961876-D124-40B1-A3E2-1920BAE9969E}" type="presParOf" srcId="{0E2B25F2-FFAE-41A5-98BB-F2EC09CDF405}" destId="{86D840C4-898D-400D-A5AA-C5D1B6ABFCCA}" srcOrd="1" destOrd="0" presId="urn:microsoft.com/office/officeart/2005/8/layout/cycle1"/>
    <dgm:cxn modelId="{9EAC0A2D-A7C4-4452-8A88-66BF60DE37C3}" type="presParOf" srcId="{0E2B25F2-FFAE-41A5-98BB-F2EC09CDF405}" destId="{27B2B74E-5FF7-4229-BF46-665B1F468277}" srcOrd="2" destOrd="0" presId="urn:microsoft.com/office/officeart/2005/8/layout/cycle1"/>
    <dgm:cxn modelId="{EB000BF3-59F5-4316-8601-7B68620E1AB7}" type="presParOf" srcId="{0E2B25F2-FFAE-41A5-98BB-F2EC09CDF405}" destId="{916F9320-97A2-4D6F-93E0-BFD961875CF1}" srcOrd="3" destOrd="0" presId="urn:microsoft.com/office/officeart/2005/8/layout/cycle1"/>
    <dgm:cxn modelId="{D078BDC4-5A1A-45CE-9EA1-8777DC80DF2C}" type="presParOf" srcId="{0E2B25F2-FFAE-41A5-98BB-F2EC09CDF405}" destId="{10489DA5-320B-4536-A2DB-1B96092CC955}" srcOrd="4" destOrd="0" presId="urn:microsoft.com/office/officeart/2005/8/layout/cycle1"/>
    <dgm:cxn modelId="{D9F0A214-0FEC-480F-A832-A9609F270DC1}" type="presParOf" srcId="{0E2B25F2-FFAE-41A5-98BB-F2EC09CDF405}" destId="{5208A0C7-7706-44C8-BDED-F5D8887FEAD5}" srcOrd="5" destOrd="0" presId="urn:microsoft.com/office/officeart/2005/8/layout/cycle1"/>
    <dgm:cxn modelId="{C6C58D63-395F-4393-B794-C0A5E6B24455}" type="presParOf" srcId="{0E2B25F2-FFAE-41A5-98BB-F2EC09CDF405}" destId="{8B149A5B-7AA1-4741-BAB6-11402BFB494C}" srcOrd="6" destOrd="0" presId="urn:microsoft.com/office/officeart/2005/8/layout/cycle1"/>
    <dgm:cxn modelId="{6172C0C1-F1C5-41A6-95C7-D968049CCA89}" type="presParOf" srcId="{0E2B25F2-FFAE-41A5-98BB-F2EC09CDF405}" destId="{5E5EBD95-C809-4290-8A85-29CD4315B46D}" srcOrd="7" destOrd="0" presId="urn:microsoft.com/office/officeart/2005/8/layout/cycle1"/>
    <dgm:cxn modelId="{044CEC46-EA8E-41F7-9D4C-7D1D07FB0836}" type="presParOf" srcId="{0E2B25F2-FFAE-41A5-98BB-F2EC09CDF405}" destId="{5043AF15-9AC3-4B3A-814F-39138C31FA19}" srcOrd="8" destOrd="0" presId="urn:microsoft.com/office/officeart/2005/8/layout/cycle1"/>
    <dgm:cxn modelId="{B32D65BF-6082-430B-B11E-91CC2D7B4859}" type="presParOf" srcId="{0E2B25F2-FFAE-41A5-98BB-F2EC09CDF405}" destId="{5AA5FE83-D716-481E-8EA0-C4C33FD0D2BB}" srcOrd="9" destOrd="0" presId="urn:microsoft.com/office/officeart/2005/8/layout/cycle1"/>
    <dgm:cxn modelId="{08B91BF4-9FFF-470C-99C7-1AB90985928F}" type="presParOf" srcId="{0E2B25F2-FFAE-41A5-98BB-F2EC09CDF405}" destId="{25F24B1D-A966-4679-AD8F-7CEBDCA7460C}" srcOrd="10" destOrd="0" presId="urn:microsoft.com/office/officeart/2005/8/layout/cycle1"/>
    <dgm:cxn modelId="{51E7BD0B-264E-4E66-B2DF-431A3A971D86}" type="presParOf" srcId="{0E2B25F2-FFAE-41A5-98BB-F2EC09CDF405}" destId="{EF12257B-C09A-44EC-8A52-1B2E8C4757BE}" srcOrd="11" destOrd="0" presId="urn:microsoft.com/office/officeart/2005/8/layout/cycle1"/>
    <dgm:cxn modelId="{82BDC7C4-9A40-4DC1-AE32-B24E231F6B88}" type="presParOf" srcId="{0E2B25F2-FFAE-41A5-98BB-F2EC09CDF405}" destId="{B6B08E2B-3214-479C-A89E-AD1FB7200424}" srcOrd="12" destOrd="0" presId="urn:microsoft.com/office/officeart/2005/8/layout/cycle1"/>
    <dgm:cxn modelId="{659D4AF3-39CA-41CB-8D13-4988E1B1B6F4}" type="presParOf" srcId="{0E2B25F2-FFAE-41A5-98BB-F2EC09CDF405}" destId="{CC2B2678-2166-40BF-BFE8-48B127E41CCB}" srcOrd="13" destOrd="0" presId="urn:microsoft.com/office/officeart/2005/8/layout/cycle1"/>
    <dgm:cxn modelId="{CACA5DA6-8F61-439D-9807-91A8A6C09918}" type="presParOf" srcId="{0E2B25F2-FFAE-41A5-98BB-F2EC09CDF405}" destId="{6FD8CB1B-A8B0-4A83-8FB3-C25A29B3CC7A}" srcOrd="14" destOrd="0" presId="urn:microsoft.com/office/officeart/2005/8/layout/cycle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840C4-898D-400D-A5AA-C5D1B6ABFCCA}">
      <dsp:nvSpPr>
        <dsp:cNvPr id="0" name=""/>
        <dsp:cNvSpPr/>
      </dsp:nvSpPr>
      <dsp:spPr>
        <a:xfrm>
          <a:off x="4704665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 </a:t>
          </a:r>
        </a:p>
      </dsp:txBody>
      <dsp:txXfrm>
        <a:off x="4704665" y="39140"/>
        <a:ext cx="1341437" cy="1341437"/>
      </dsp:txXfrm>
    </dsp:sp>
    <dsp:sp modelId="{27B2B74E-5FF7-4229-BF46-665B1F468277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21292825"/>
            <a:gd name="adj4" fmla="val 19766604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89DA5-320B-4536-A2DB-1B96092CC955}">
      <dsp:nvSpPr>
        <dsp:cNvPr id="0" name=""/>
        <dsp:cNvSpPr/>
      </dsp:nvSpPr>
      <dsp:spPr>
        <a:xfrm>
          <a:off x="5515145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5515145" y="2533541"/>
        <a:ext cx="1341437" cy="1341437"/>
      </dsp:txXfrm>
    </dsp:sp>
    <dsp:sp modelId="{5208A0C7-7706-44C8-BDED-F5D8887FEAD5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4014266"/>
            <a:gd name="adj4" fmla="val 22538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EBD95-C809-4290-8A85-29CD4315B46D}">
      <dsp:nvSpPr>
        <dsp:cNvPr id="0" name=""/>
        <dsp:cNvSpPr/>
      </dsp:nvSpPr>
      <dsp:spPr>
        <a:xfrm>
          <a:off x="3393281" y="4075166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3393281" y="4075166"/>
        <a:ext cx="1341437" cy="1341437"/>
      </dsp:txXfrm>
    </dsp:sp>
    <dsp:sp modelId="{5043AF15-9AC3-4B3A-814F-39138C31FA19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8210155"/>
            <a:gd name="adj4" fmla="val 644971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24B1D-A966-4679-AD8F-7CEBDCA7460C}">
      <dsp:nvSpPr>
        <dsp:cNvPr id="0" name=""/>
        <dsp:cNvSpPr/>
      </dsp:nvSpPr>
      <dsp:spPr>
        <a:xfrm>
          <a:off x="1271416" y="2533541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1271416" y="2533541"/>
        <a:ext cx="1341437" cy="1341437"/>
      </dsp:txXfrm>
    </dsp:sp>
    <dsp:sp modelId="{EF12257B-C09A-44EC-8A52-1B2E8C4757BE}">
      <dsp:nvSpPr>
        <dsp:cNvPr id="0" name=""/>
        <dsp:cNvSpPr/>
      </dsp:nvSpPr>
      <dsp:spPr>
        <a:xfrm>
          <a:off x="1549560" y="385"/>
          <a:ext cx="5028878" cy="5028878"/>
        </a:xfrm>
        <a:prstGeom prst="circularArrow">
          <a:avLst>
            <a:gd name="adj1" fmla="val 5202"/>
            <a:gd name="adj2" fmla="val 336015"/>
            <a:gd name="adj3" fmla="val 12297380"/>
            <a:gd name="adj4" fmla="val 1077116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B2678-2166-40BF-BFE8-48B127E41CCB}">
      <dsp:nvSpPr>
        <dsp:cNvPr id="0" name=""/>
        <dsp:cNvSpPr/>
      </dsp:nvSpPr>
      <dsp:spPr>
        <a:xfrm>
          <a:off x="2081896" y="39140"/>
          <a:ext cx="1341437" cy="1341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 dirty="0"/>
        </a:p>
      </dsp:txBody>
      <dsp:txXfrm>
        <a:off x="2081896" y="39140"/>
        <a:ext cx="1341437" cy="1341437"/>
      </dsp:txXfrm>
    </dsp:sp>
    <dsp:sp modelId="{6FD8CB1B-A8B0-4A83-8FB3-C25A29B3CC7A}">
      <dsp:nvSpPr>
        <dsp:cNvPr id="0" name=""/>
        <dsp:cNvSpPr/>
      </dsp:nvSpPr>
      <dsp:spPr>
        <a:xfrm>
          <a:off x="1558914" y="26837"/>
          <a:ext cx="5028878" cy="5028878"/>
        </a:xfrm>
        <a:prstGeom prst="circularArrow">
          <a:avLst>
            <a:gd name="adj1" fmla="val 5202"/>
            <a:gd name="adj2" fmla="val 336015"/>
            <a:gd name="adj3" fmla="val 16865256"/>
            <a:gd name="adj4" fmla="val 15198729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0D6A1-8F9E-460D-B8A6-B30C91254026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08CD-6665-49F1-885F-6B82713B20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230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B08CD-6665-49F1-885F-6B82713B202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94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B08CD-6665-49F1-885F-6B82713B202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778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8D888-86AA-2580-D775-8A203063F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216D70-79F0-CD0A-246B-79B2F1E96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9E776C-0EB6-7A4D-6452-C09CE5E7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AAA5D2-6901-88E1-0EC8-BAF63193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CA8D62-A9D1-ABA7-E6D4-1575B369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16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4F75E-46AA-F517-D0EC-894B0A94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DE8D51-5F5B-2B4D-233B-8E0DBDFA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C4DEC7-3406-C329-3A18-712F82C8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2B8309-00D5-00E1-2DC0-F3393E5A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6C5FA3-5825-1554-68E2-0CD98008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29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8D783-A5B8-E922-C912-1674E313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BF7AAB-3547-3AE8-9E6B-6887FA0E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F0E2AB-85E5-DA64-97F4-E5883D7D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51E89A-788A-3F1E-E8B5-A061FF12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85A5B0-8CB6-8947-FD1C-9E0C3279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97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0DA1F-91DD-F6E2-87F7-28BF30FA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BCD994-CA70-C675-A675-6B0377DBC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262042-54D8-CCA9-7784-46A4E860A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90B302-BA3C-4491-6B9B-02A3E2BC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E3838C-2840-7013-5C8B-132BC364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6326CB-76B1-04A8-8847-81BF7742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97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4AFDE-E88A-30E4-93ED-134D4E6E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974A2A-DDB3-E569-36AD-0DFB91961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D9B41F-7D2E-097C-006C-AA80FE436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0D97B8-FBC3-36D4-36B2-66A2217D7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F2BE25-3708-37DC-5170-588189A58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8D1B30-6509-35B3-ADC8-81C69912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0D6A60-99E9-081A-1378-253DA5AE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4BFB99-AEAD-84E5-84CC-536857F4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72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2EDEA-BE18-9A70-D8CA-4FC75C23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A93D70D-810D-F9FC-3B7D-BF31106C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3357CC-13B9-E319-D1ED-76D324E3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1510B9-FC7F-59E3-94FF-1BFFA05C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73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0EF31E-1EB6-5F84-4C91-C1740B03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2417E5-520A-45D7-6F5D-046599EF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F22C97-F298-1D1F-8F14-86626BBC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DFDCA-7CB7-6C6F-7EE2-19895798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C5DF10-6637-73F6-A467-AD097FD0E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ACD3A8-11F2-F313-5BB7-1F8776B23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69C421-726D-03F3-E839-F7B78EB71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565B85-940B-A4BA-34AC-9C1C80BE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AE6E31-701A-3AF4-35A4-9A46C060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10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112F6-903D-4910-E4DF-7B20201A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0E8FDF1-75E5-CF29-468E-CCF591E4F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3DA123-05AD-740A-B262-AC479EAE0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32D8DB-36F2-6A21-FFF8-D7AB9735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11997B-6720-A596-73A7-76CC3567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BCCC7D-F94E-157B-8882-78CDE28F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53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5543A-127E-EE9E-C76A-7F58EDEE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A380FE-3498-575F-028F-B7626F297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02FCE0-E4DB-238B-6437-F9D531D9A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924B4B-244A-089A-B347-BEF0DED8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B00092-BC21-CC10-87B4-EADEB902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50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03D8DD-5D2F-598A-92CB-45ACFAAF5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6E7EB2-B48B-5F0D-DFB2-F7FB8D906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2876-99DD-430C-B9E6-686106C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144CB4-2544-1F52-B695-749E710A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763994-1B3E-B5BF-2E2F-E55D1330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8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92000">
              <a:srgbClr val="008A2E"/>
            </a:gs>
            <a:gs pos="53000">
              <a:srgbClr val="00330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63CDD1-83E0-D4DF-C56F-FB46B6EF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F7285D-6C1B-8CD7-8B0A-26147F850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E5057-C6B1-DB82-9FA4-7B3BB2EE3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1091C-02EE-4180-9C26-B436C62BE1CE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F27BC9-07BB-9430-56E5-4C9216099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919FA3-4BB6-42EF-6A7E-AD691E8C0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D179D-A56C-4DEB-A5D0-06CADD3E6C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02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resignal.com/blog/hiring-bias/" TargetMode="External"/><Relationship Id="rId5" Type="http://schemas.openxmlformats.org/officeDocument/2006/relationships/hyperlink" Target="https://coreteamgroup.com/workday-projects-bad-hire-risks-guide/" TargetMode="External"/><Relationship Id="rId4" Type="http://schemas.openxmlformats.org/officeDocument/2006/relationships/hyperlink" Target="https://www.iqpartners.com/blog/the-true-cost-of-a-bad-hire-updated-for-2026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6FD81-F96F-66FC-4DDA-09A9AAD4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66AFF37-DBFB-80F7-75EE-99DC3EE3F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89" r="11301"/>
          <a:stretch>
            <a:fillRect/>
          </a:stretch>
        </p:blipFill>
        <p:spPr>
          <a:xfrm>
            <a:off x="0" y="0"/>
            <a:ext cx="2482517" cy="6858000"/>
          </a:xfrm>
          <a:prstGeom prst="rect">
            <a:avLst/>
          </a:prstGeom>
        </p:spPr>
      </p:pic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EAC177D-AF0C-EFE6-7924-692F6DF7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1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18379D-D3E4-93E7-F380-22E0204FC694}"/>
              </a:ext>
            </a:extLst>
          </p:cNvPr>
          <p:cNvSpPr txBox="1"/>
          <p:nvPr/>
        </p:nvSpPr>
        <p:spPr>
          <a:xfrm>
            <a:off x="2476500" y="1693895"/>
            <a:ext cx="723899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5400" b="1" dirty="0" err="1">
                <a:solidFill>
                  <a:schemeClr val="bg1"/>
                </a:solidFill>
              </a:rPr>
              <a:t>Novva</a:t>
            </a:r>
            <a:r>
              <a:rPr lang="pt-BR" sz="5400" b="1" dirty="0">
                <a:solidFill>
                  <a:schemeClr val="bg1"/>
                </a:solidFill>
              </a:rPr>
              <a:t> R&amp;S</a:t>
            </a:r>
          </a:p>
          <a:p>
            <a:pPr algn="ctr">
              <a:buNone/>
            </a:pPr>
            <a:r>
              <a:rPr lang="pt-BR" sz="5400" b="1" dirty="0">
                <a:solidFill>
                  <a:schemeClr val="bg1"/>
                </a:solidFill>
              </a:rPr>
              <a:t>Selecionar Pessoas de forma Objetiva e Transparente e não errar na Contratação</a:t>
            </a:r>
            <a:endParaRPr lang="pt-BR" sz="5400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CB878D1-8869-71CF-A422-13CC9EFBF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764" y="213374"/>
            <a:ext cx="1278472" cy="657212"/>
          </a:xfrm>
          <a:prstGeom prst="rect">
            <a:avLst/>
          </a:prstGeom>
        </p:spPr>
      </p:pic>
      <p:pic>
        <p:nvPicPr>
          <p:cNvPr id="12" name="Imagem 1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95B8C154-4E1B-33CD-D0CB-F077C3155E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21516" y="2406"/>
            <a:ext cx="2482517" cy="685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9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7842CDF-8FFF-C453-EADF-130286A88C29}"/>
              </a:ext>
            </a:extLst>
          </p:cNvPr>
          <p:cNvSpPr/>
          <p:nvPr/>
        </p:nvSpPr>
        <p:spPr>
          <a:xfrm>
            <a:off x="791860" y="1515868"/>
            <a:ext cx="2923114" cy="4951607"/>
          </a:xfrm>
          <a:prstGeom prst="roundRect">
            <a:avLst>
              <a:gd name="adj" fmla="val 9498"/>
            </a:avLst>
          </a:prstGeom>
          <a:solidFill>
            <a:srgbClr val="33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9AF305-7C29-5D28-804C-D8FD59128452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D71EA43-83D3-44C8-E4BB-BD1D7EC03524}"/>
              </a:ext>
            </a:extLst>
          </p:cNvPr>
          <p:cNvSpPr txBox="1"/>
          <p:nvPr/>
        </p:nvSpPr>
        <p:spPr>
          <a:xfrm>
            <a:off x="718591" y="6174243"/>
            <a:ext cx="29963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chemeClr val="bg1"/>
                </a:solidFill>
              </a:rPr>
              <a:t>fonte: https://www.manpowergroup.com.br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B8DEEC5E-5973-AEE0-CEC3-7E8B4D0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5283" y="6356350"/>
            <a:ext cx="2743200" cy="365125"/>
          </a:xfrm>
        </p:spPr>
        <p:txBody>
          <a:bodyPr/>
          <a:lstStyle/>
          <a:p>
            <a:fld id="{EC16DA9C-1B67-4414-87EE-2B247BC281D7}" type="slidenum">
              <a:rPr lang="pt-BR" smtClean="0"/>
              <a:t>2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5D66865-B866-3DF5-9EE1-3643F3F8A4C8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BCD460-22DF-1B33-3908-4F180B985094}"/>
              </a:ext>
            </a:extLst>
          </p:cNvPr>
          <p:cNvSpPr txBox="1"/>
          <p:nvPr/>
        </p:nvSpPr>
        <p:spPr>
          <a:xfrm>
            <a:off x="791859" y="1582543"/>
            <a:ext cx="29231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O Desafio de Mercado</a:t>
            </a:r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sz="4000" b="1" dirty="0">
                <a:solidFill>
                  <a:srgbClr val="FFFF00"/>
                </a:solidFill>
              </a:rPr>
              <a:t>81%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dos empregadores no Brasil relatam </a:t>
            </a:r>
            <a:r>
              <a:rPr lang="pt-BR" sz="2800" dirty="0">
                <a:solidFill>
                  <a:schemeClr val="bg1"/>
                </a:solidFill>
              </a:rPr>
              <a:t>dificuldade</a:t>
            </a:r>
            <a:r>
              <a:rPr lang="pt-BR" sz="2000" dirty="0">
                <a:solidFill>
                  <a:schemeClr val="bg1"/>
                </a:solidFill>
              </a:rPr>
              <a:t> em encontrar os profissionais necessários.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43600CA-AEE0-EFE2-6E69-78E33657D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712" y="4225790"/>
            <a:ext cx="2595409" cy="1608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AA1EA088-709E-E640-280C-5E9895575D90}"/>
              </a:ext>
            </a:extLst>
          </p:cNvPr>
          <p:cNvSpPr txBox="1"/>
          <p:nvPr/>
        </p:nvSpPr>
        <p:spPr>
          <a:xfrm>
            <a:off x="718592" y="5843820"/>
            <a:ext cx="29963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50" b="0" i="0" dirty="0">
                <a:solidFill>
                  <a:schemeClr val="bg1"/>
                </a:solidFill>
                <a:effectLst/>
                <a:latin typeface="Inter-Regular"/>
              </a:rPr>
              <a:t> A Pesquisa de Escassez de Talentos não foi realizada em 2017 e 2020.</a:t>
            </a:r>
            <a:endParaRPr lang="pt-BR" sz="1050" dirty="0">
              <a:solidFill>
                <a:schemeClr val="bg1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32EA000-70BA-17BB-3096-2E93680B18DE}"/>
              </a:ext>
            </a:extLst>
          </p:cNvPr>
          <p:cNvSpPr txBox="1"/>
          <p:nvPr/>
        </p:nvSpPr>
        <p:spPr>
          <a:xfrm>
            <a:off x="1299871" y="746427"/>
            <a:ext cx="2713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Os custos de errar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D92B9F2-3667-8764-2F99-D555DF382FEC}"/>
              </a:ext>
            </a:extLst>
          </p:cNvPr>
          <p:cNvSpPr/>
          <p:nvPr/>
        </p:nvSpPr>
        <p:spPr>
          <a:xfrm>
            <a:off x="8477027" y="1515868"/>
            <a:ext cx="2923114" cy="4951607"/>
          </a:xfrm>
          <a:prstGeom prst="roundRect">
            <a:avLst>
              <a:gd name="adj" fmla="val 9498"/>
            </a:avLst>
          </a:prstGeom>
          <a:solidFill>
            <a:srgbClr val="33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B929E98-1B05-F363-9419-3C1718B93409}"/>
              </a:ext>
            </a:extLst>
          </p:cNvPr>
          <p:cNvSpPr txBox="1"/>
          <p:nvPr/>
        </p:nvSpPr>
        <p:spPr>
          <a:xfrm>
            <a:off x="8477025" y="1587258"/>
            <a:ext cx="292311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Contratar errado custa</a:t>
            </a:r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4000" b="1" dirty="0">
                <a:solidFill>
                  <a:srgbClr val="FFFF00"/>
                </a:solidFill>
              </a:rPr>
              <a:t>30%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dos ganhos do primeiro ano em cargo técnico.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Até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  <a:r>
              <a:rPr lang="pt-BR" sz="4000" b="1" dirty="0">
                <a:solidFill>
                  <a:srgbClr val="FFFF00"/>
                </a:solidFill>
              </a:rPr>
              <a:t>5 vezes</a:t>
            </a:r>
            <a:endParaRPr lang="pt-BR" sz="2000" b="1" dirty="0">
              <a:solidFill>
                <a:srgbClr val="FFFF00"/>
              </a:solidFill>
            </a:endParaRP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os ganhos anuais em uma posição de liderança </a:t>
            </a:r>
          </a:p>
          <a:p>
            <a:pPr algn="ctr"/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1400" dirty="0">
                <a:solidFill>
                  <a:schemeClr val="bg1"/>
                </a:solidFill>
              </a:rPr>
              <a:t>(R&amp;S, </a:t>
            </a:r>
            <a:r>
              <a:rPr lang="pt-BR" sz="1400" dirty="0" err="1">
                <a:solidFill>
                  <a:schemeClr val="bg1"/>
                </a:solidFill>
              </a:rPr>
              <a:t>onboarding</a:t>
            </a:r>
            <a:r>
              <a:rPr lang="pt-BR" sz="1400" dirty="0">
                <a:solidFill>
                  <a:schemeClr val="bg1"/>
                </a:solidFill>
              </a:rPr>
              <a:t>, perda de produtividade, treinamentos, danos no relacionamento com clientes, dedicação de outros para compensar as deficiências)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0110851-638F-863E-27B9-7BCCC62507D3}"/>
              </a:ext>
            </a:extLst>
          </p:cNvPr>
          <p:cNvSpPr txBox="1"/>
          <p:nvPr/>
        </p:nvSpPr>
        <p:spPr>
          <a:xfrm>
            <a:off x="8681282" y="6086578"/>
            <a:ext cx="25145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050" b="0" i="0">
                <a:solidFill>
                  <a:schemeClr val="bg1"/>
                </a:solidFill>
                <a:effectLst/>
                <a:latin typeface="Inter-Regular"/>
              </a:defRPr>
            </a:lvl1pPr>
          </a:lstStyle>
          <a:p>
            <a:r>
              <a:rPr lang="pt-BR" dirty="0"/>
              <a:t>Fontes</a:t>
            </a:r>
            <a:r>
              <a:rPr lang="pt-B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IQ </a:t>
            </a:r>
            <a:r>
              <a:rPr lang="pt-BR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Partners</a:t>
            </a:r>
            <a:r>
              <a:rPr lang="pt-B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dirty="0"/>
              <a:t>e </a:t>
            </a:r>
            <a:r>
              <a:rPr lang="pt-BR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Coreteam</a:t>
            </a:r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5AE26FF-A2D9-F625-259E-8090D0C71258}"/>
              </a:ext>
            </a:extLst>
          </p:cNvPr>
          <p:cNvSpPr/>
          <p:nvPr/>
        </p:nvSpPr>
        <p:spPr>
          <a:xfrm>
            <a:off x="3968869" y="1511153"/>
            <a:ext cx="2923114" cy="4951607"/>
          </a:xfrm>
          <a:prstGeom prst="roundRect">
            <a:avLst>
              <a:gd name="adj" fmla="val 9498"/>
            </a:avLst>
          </a:prstGeom>
          <a:solidFill>
            <a:srgbClr val="33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A247DDC-A50F-E648-CA59-F14FC9B0B10E}"/>
              </a:ext>
            </a:extLst>
          </p:cNvPr>
          <p:cNvSpPr txBox="1"/>
          <p:nvPr/>
        </p:nvSpPr>
        <p:spPr>
          <a:xfrm>
            <a:off x="3968867" y="1582543"/>
            <a:ext cx="29231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sz="2000" b="1" dirty="0">
                <a:solidFill>
                  <a:schemeClr val="bg1"/>
                </a:solidFill>
              </a:rPr>
              <a:t>Viés Cognitivo na Seleção</a:t>
            </a:r>
            <a:endParaRPr lang="pt-BR" sz="2000" dirty="0">
              <a:solidFill>
                <a:schemeClr val="bg1"/>
              </a:solidFill>
            </a:endParaRPr>
          </a:p>
          <a:p>
            <a:pPr algn="ctr"/>
            <a:r>
              <a:rPr lang="pt-BR" sz="4000" b="1" dirty="0">
                <a:solidFill>
                  <a:srgbClr val="FFFF00"/>
                </a:solidFill>
              </a:rPr>
              <a:t>25,5%</a:t>
            </a:r>
            <a:r>
              <a:rPr lang="pt-BR" sz="40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das decisões de contratação são tomadas nos primeiros.</a:t>
            </a:r>
          </a:p>
          <a:p>
            <a:pPr algn="ctr"/>
            <a:r>
              <a:rPr lang="pt-BR" sz="4000" b="1" dirty="0">
                <a:solidFill>
                  <a:srgbClr val="FFFF00"/>
                </a:solidFill>
              </a:rPr>
              <a:t>5 minutos</a:t>
            </a:r>
            <a:endParaRPr lang="pt-BR" sz="2000" b="1" dirty="0">
              <a:solidFill>
                <a:srgbClr val="FFFF00"/>
              </a:solidFill>
            </a:endParaRP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de uma entrevista.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O restante do tempo é gasto pelo entrevistador para confirmar inconscientemente a primeira impressão (“</a:t>
            </a:r>
            <a:r>
              <a:rPr lang="pt-BR" sz="2000" dirty="0" err="1">
                <a:solidFill>
                  <a:schemeClr val="bg1"/>
                </a:solidFill>
              </a:rPr>
              <a:t>gut</a:t>
            </a:r>
            <a:r>
              <a:rPr lang="pt-BR" sz="2000" dirty="0">
                <a:solidFill>
                  <a:schemeClr val="bg1"/>
                </a:solidFill>
              </a:rPr>
              <a:t> feeling”)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E70312C-5789-5F48-AA2B-EF97479F10D1}"/>
              </a:ext>
            </a:extLst>
          </p:cNvPr>
          <p:cNvSpPr txBox="1"/>
          <p:nvPr/>
        </p:nvSpPr>
        <p:spPr>
          <a:xfrm>
            <a:off x="4110972" y="6204522"/>
            <a:ext cx="25145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1050" b="0" i="0">
                <a:solidFill>
                  <a:schemeClr val="bg1"/>
                </a:solidFill>
                <a:effectLst/>
                <a:latin typeface="Inter-Regular"/>
              </a:defRPr>
            </a:lvl1pPr>
          </a:lstStyle>
          <a:p>
            <a:r>
              <a:rPr lang="pt-BR" dirty="0"/>
              <a:t>Fonte:</a:t>
            </a:r>
            <a:r>
              <a:rPr lang="pt-BR" dirty="0">
                <a:solidFill>
                  <a:srgbClr val="0563C1"/>
                </a:solidFill>
              </a:rPr>
              <a:t> </a:t>
            </a:r>
            <a:r>
              <a:rPr lang="pt-BR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Coresignal</a:t>
            </a:r>
            <a:endParaRPr lang="pt-BR" dirty="0"/>
          </a:p>
        </p:txBody>
      </p:sp>
      <p:sp>
        <p:nvSpPr>
          <p:cNvPr id="30" name="Seta: Pentágono 29">
            <a:extLst>
              <a:ext uri="{FF2B5EF4-FFF2-40B4-BE49-F238E27FC236}">
                <a16:creationId xmlns:a16="http://schemas.microsoft.com/office/drawing/2014/main" id="{DC139DB6-8F19-6AF9-1F9C-0CDA91C41156}"/>
              </a:ext>
            </a:extLst>
          </p:cNvPr>
          <p:cNvSpPr/>
          <p:nvPr/>
        </p:nvSpPr>
        <p:spPr>
          <a:xfrm>
            <a:off x="7277040" y="1837881"/>
            <a:ext cx="995725" cy="4298150"/>
          </a:xfrm>
          <a:prstGeom prst="homePlate">
            <a:avLst>
              <a:gd name="adj" fmla="val 92991"/>
            </a:avLst>
          </a:prstGeom>
          <a:solidFill>
            <a:srgbClr val="33CCFF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93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88834-4CB7-DE61-E675-2910C1B8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9BC9C20-F042-5461-D78D-8FF182A6D3D2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4A813F1-3870-22A8-DB15-A7892E128B3F}"/>
              </a:ext>
            </a:extLst>
          </p:cNvPr>
          <p:cNvSpPr txBox="1"/>
          <p:nvPr/>
        </p:nvSpPr>
        <p:spPr>
          <a:xfrm>
            <a:off x="1299871" y="746427"/>
            <a:ext cx="691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 Objetividade e Transparência da Solução </a:t>
            </a:r>
            <a:r>
              <a:rPr lang="pt-B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Novva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Arial Nova" panose="020B0504020202020204" pitchFamily="34" charset="0"/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BA85389A-D9C0-562B-F9A8-DAFB1528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7049" y="6414794"/>
            <a:ext cx="2743200" cy="365125"/>
          </a:xfrm>
        </p:spPr>
        <p:txBody>
          <a:bodyPr/>
          <a:lstStyle/>
          <a:p>
            <a:fld id="{EC16DA9C-1B67-4414-87EE-2B247BC281D7}" type="slidenum">
              <a:rPr lang="pt-BR" smtClean="0">
                <a:solidFill>
                  <a:schemeClr val="bg1"/>
                </a:solidFill>
              </a:rPr>
              <a:t>3</a:t>
            </a:fld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F3B720-AFCC-8710-1E5E-724DE80EB4BA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B5B388-9615-A22B-4C31-8457C9E8B874}"/>
              </a:ext>
            </a:extLst>
          </p:cNvPr>
          <p:cNvSpPr txBox="1"/>
          <p:nvPr/>
        </p:nvSpPr>
        <p:spPr>
          <a:xfrm>
            <a:off x="421214" y="1914386"/>
            <a:ext cx="59247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A transparência: todas as vagas registradas em um só local e acessíveis aos seus gestores e avaliadores, que podem ser vários para o mesmo candidato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D7FC3E4-CFCE-0496-4BE3-B8F9F05F03E9}"/>
              </a:ext>
            </a:extLst>
          </p:cNvPr>
          <p:cNvSpPr txBox="1"/>
          <p:nvPr/>
        </p:nvSpPr>
        <p:spPr>
          <a:xfrm>
            <a:off x="421214" y="5044430"/>
            <a:ext cx="59247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Avaliação, com notas e pesos, baseada em critérios claros e objetivos, que transformam a subjetividade em dados comparáveis, facilitando a escolha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D6B88DF-85C8-8B2C-B25C-7CAE5255EF4C}"/>
              </a:ext>
            </a:extLst>
          </p:cNvPr>
          <p:cNvSpPr txBox="1"/>
          <p:nvPr/>
        </p:nvSpPr>
        <p:spPr>
          <a:xfrm>
            <a:off x="421214" y="3633296"/>
            <a:ext cx="59247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</a:rPr>
              <a:t>Avaliação 360° - comparação visual dos critérios entre candidatos, ranking por notas e filtragem por avaliador e/ou critério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2" name="Triângulo isósceles 21">
            <a:extLst>
              <a:ext uri="{FF2B5EF4-FFF2-40B4-BE49-F238E27FC236}">
                <a16:creationId xmlns:a16="http://schemas.microsoft.com/office/drawing/2014/main" id="{3094AA70-49B2-64A1-3B77-A1FAF84DB9DD}"/>
              </a:ext>
            </a:extLst>
          </p:cNvPr>
          <p:cNvSpPr/>
          <p:nvPr/>
        </p:nvSpPr>
        <p:spPr>
          <a:xfrm>
            <a:off x="8038504" y="2808175"/>
            <a:ext cx="2517521" cy="217027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0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2ADCC70-34F6-B6B3-7DCD-F185352AA834}"/>
              </a:ext>
            </a:extLst>
          </p:cNvPr>
          <p:cNvSpPr txBox="1"/>
          <p:nvPr/>
        </p:nvSpPr>
        <p:spPr>
          <a:xfrm>
            <a:off x="8830726" y="2363043"/>
            <a:ext cx="93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Triagem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0BFD197-C1C6-2C11-007D-6FC647CB27E9}"/>
              </a:ext>
            </a:extLst>
          </p:cNvPr>
          <p:cNvSpPr txBox="1"/>
          <p:nvPr/>
        </p:nvSpPr>
        <p:spPr>
          <a:xfrm>
            <a:off x="10341414" y="4731085"/>
            <a:ext cx="93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Fit Cultural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4A5E4F5-E852-B637-A5B3-45153A090468}"/>
              </a:ext>
            </a:extLst>
          </p:cNvPr>
          <p:cNvSpPr txBox="1"/>
          <p:nvPr/>
        </p:nvSpPr>
        <p:spPr>
          <a:xfrm>
            <a:off x="7159667" y="4731085"/>
            <a:ext cx="93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Teste Técnico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3E51AB7-3ED4-4DEC-0FC8-48D74102DEBE}"/>
              </a:ext>
            </a:extLst>
          </p:cNvPr>
          <p:cNvSpPr txBox="1"/>
          <p:nvPr/>
        </p:nvSpPr>
        <p:spPr>
          <a:xfrm>
            <a:off x="8469946" y="3972184"/>
            <a:ext cx="1654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Todos os dados em um só lugar, com acesso controlado e segmentado</a:t>
            </a:r>
          </a:p>
        </p:txBody>
      </p:sp>
      <p:graphicFrame>
        <p:nvGraphicFramePr>
          <p:cNvPr id="27" name="Diagrama 26">
            <a:extLst>
              <a:ext uri="{FF2B5EF4-FFF2-40B4-BE49-F238E27FC236}">
                <a16:creationId xmlns:a16="http://schemas.microsoft.com/office/drawing/2014/main" id="{D1302319-DE81-E40E-D6D4-1FA881B857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6865756"/>
              </p:ext>
            </p:extLst>
          </p:nvPr>
        </p:nvGraphicFramePr>
        <p:xfrm>
          <a:off x="5129764" y="165272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" name="Gráfico 29" descr="Análise do cliente com preenchimento sólido">
            <a:extLst>
              <a:ext uri="{FF2B5EF4-FFF2-40B4-BE49-F238E27FC236}">
                <a16:creationId xmlns:a16="http://schemas.microsoft.com/office/drawing/2014/main" id="{76867D2B-9584-BCC1-59ED-F54144F686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7992" y="3146190"/>
            <a:ext cx="605012" cy="605012"/>
          </a:xfrm>
          <a:prstGeom prst="rect">
            <a:avLst/>
          </a:prstGeom>
        </p:spPr>
      </p:pic>
      <p:pic>
        <p:nvPicPr>
          <p:cNvPr id="32" name="Gráfico 31" descr="Análise do cliente com preenchimento sólido">
            <a:extLst>
              <a:ext uri="{FF2B5EF4-FFF2-40B4-BE49-F238E27FC236}">
                <a16:creationId xmlns:a16="http://schemas.microsoft.com/office/drawing/2014/main" id="{E6B078D5-0E55-721F-E83B-900B13D9F9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2516" y="5239483"/>
            <a:ext cx="605012" cy="605012"/>
          </a:xfrm>
          <a:prstGeom prst="rect">
            <a:avLst/>
          </a:prstGeom>
        </p:spPr>
      </p:pic>
      <p:pic>
        <p:nvPicPr>
          <p:cNvPr id="33" name="Gráfico 32" descr="Análise do cliente com preenchimento sólido">
            <a:extLst>
              <a:ext uri="{FF2B5EF4-FFF2-40B4-BE49-F238E27FC236}">
                <a16:creationId xmlns:a16="http://schemas.microsoft.com/office/drawing/2014/main" id="{83AB2E58-5377-4D3C-479D-4451636E73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4934" y="3164618"/>
            <a:ext cx="605012" cy="605012"/>
          </a:xfrm>
          <a:prstGeom prst="rect">
            <a:avLst/>
          </a:prstGeom>
        </p:spPr>
      </p:pic>
      <p:pic>
        <p:nvPicPr>
          <p:cNvPr id="35" name="Gráfico 34" descr="Crachá de funcionário com preenchimento sólido">
            <a:extLst>
              <a:ext uri="{FF2B5EF4-FFF2-40B4-BE49-F238E27FC236}">
                <a16:creationId xmlns:a16="http://schemas.microsoft.com/office/drawing/2014/main" id="{5381B7FA-436D-1F05-1A64-04537392A8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2516" y="3448696"/>
            <a:ext cx="504538" cy="50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7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CD71-EEFD-ED45-DB5B-3B17D556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5DC75F2-C864-0714-8EF0-5B3D1AF0B9F2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780E1647-04DB-7B74-62EC-17C3C096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4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6B8F83-B43C-998F-0855-EF66810A414C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3FE24D-F305-C35C-1D5D-96DEFC0B33CC}"/>
              </a:ext>
            </a:extLst>
          </p:cNvPr>
          <p:cNvSpPr txBox="1"/>
          <p:nvPr/>
        </p:nvSpPr>
        <p:spPr>
          <a:xfrm>
            <a:off x="547819" y="1515868"/>
            <a:ext cx="11096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 err="1">
                <a:solidFill>
                  <a:schemeClr val="bg1"/>
                </a:solidFill>
              </a:rPr>
              <a:t>Novva</a:t>
            </a:r>
            <a:r>
              <a:rPr lang="pt-BR" b="1" dirty="0">
                <a:solidFill>
                  <a:schemeClr val="bg1"/>
                </a:solidFill>
              </a:rPr>
              <a:t> R&amp;S se posiciona não como um repositório de currículos, mas um motor de inteligência que mitiga o risco da subjetividade humana e do custo desnecessário da reposição.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E36C0CF-B1F7-B05C-8FD1-4B25361A41E5}"/>
              </a:ext>
            </a:extLst>
          </p:cNvPr>
          <p:cNvSpPr txBox="1"/>
          <p:nvPr/>
        </p:nvSpPr>
        <p:spPr>
          <a:xfrm>
            <a:off x="1299871" y="746427"/>
            <a:ext cx="3672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O Mercado que demanda</a:t>
            </a:r>
          </a:p>
        </p:txBody>
      </p:sp>
    </p:spTree>
    <p:extLst>
      <p:ext uri="{BB962C8B-B14F-4D97-AF65-F5344CB8AC3E}">
        <p14:creationId xmlns:p14="http://schemas.microsoft.com/office/powerpoint/2010/main" val="306821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F626-5D22-2BD0-4B67-4DED251A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601D76E-0B3E-986F-ED9A-CA8F5CF4D617}"/>
              </a:ext>
            </a:extLst>
          </p:cNvPr>
          <p:cNvSpPr/>
          <p:nvPr/>
        </p:nvSpPr>
        <p:spPr>
          <a:xfrm>
            <a:off x="0" y="0"/>
            <a:ext cx="12192000" cy="1208092"/>
          </a:xfrm>
          <a:prstGeom prst="rect">
            <a:avLst/>
          </a:prstGeom>
          <a:solidFill>
            <a:srgbClr val="ABA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957745CD-75A5-55BB-7F79-41095C2C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6DA9C-1B67-4414-87EE-2B247BC281D7}" type="slidenum">
              <a:rPr lang="pt-BR" smtClean="0"/>
              <a:t>5</a:t>
            </a:fld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564AA8-3885-A4AB-85E3-73E7841DE630}"/>
              </a:ext>
            </a:extLst>
          </p:cNvPr>
          <p:cNvSpPr txBox="1"/>
          <p:nvPr/>
        </p:nvSpPr>
        <p:spPr>
          <a:xfrm>
            <a:off x="1231640" y="17523"/>
            <a:ext cx="97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badi Extra Light" panose="020B0204020104020204" pitchFamily="34" charset="0"/>
              </a:rPr>
              <a:t>R&amp;S com Objetividade e Transparência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6FD9C6-F488-5EA1-15C5-FEA13CF345A9}"/>
              </a:ext>
            </a:extLst>
          </p:cNvPr>
          <p:cNvSpPr txBox="1"/>
          <p:nvPr/>
        </p:nvSpPr>
        <p:spPr>
          <a:xfrm>
            <a:off x="547819" y="1914849"/>
            <a:ext cx="11096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 err="1">
                <a:solidFill>
                  <a:schemeClr val="bg1"/>
                </a:solidFill>
              </a:rPr>
              <a:t>Novva</a:t>
            </a:r>
            <a:r>
              <a:rPr lang="pt-BR" b="1" dirty="0">
                <a:solidFill>
                  <a:schemeClr val="bg1"/>
                </a:solidFill>
              </a:rPr>
              <a:t> R&amp;S se posiciona não como um repositório de currículos, mas um motor de inteligência que mitiga o risco da subjetividade humana e do custo desnecessário da reposição.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" name="Imagem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9EB4E9A1-8A2B-864D-B49F-9C58ADE0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0" y="3454860"/>
            <a:ext cx="3570047" cy="292270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m 1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2BB92E1-D2A5-9D90-FDE1-A94A417EE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396" y="3454860"/>
            <a:ext cx="3590067" cy="292270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Imagem 1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B329DCCB-63B1-6108-07D6-EBEAB2118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012" y="3469620"/>
            <a:ext cx="4138156" cy="294517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A1763E2-8D6B-60A0-AA9D-B8683D4FD731}"/>
              </a:ext>
            </a:extLst>
          </p:cNvPr>
          <p:cNvSpPr txBox="1"/>
          <p:nvPr/>
        </p:nvSpPr>
        <p:spPr>
          <a:xfrm>
            <a:off x="1299871" y="746427"/>
            <a:ext cx="2747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</a:rPr>
              <a:t>As funcionalidades</a:t>
            </a:r>
          </a:p>
        </p:txBody>
      </p:sp>
    </p:spTree>
    <p:extLst>
      <p:ext uri="{BB962C8B-B14F-4D97-AF65-F5344CB8AC3E}">
        <p14:creationId xmlns:p14="http://schemas.microsoft.com/office/powerpoint/2010/main" val="27679295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3315</TotalTime>
  <Words>370</Words>
  <Application>Microsoft Office PowerPoint</Application>
  <PresentationFormat>Widescreen</PresentationFormat>
  <Paragraphs>47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Abadi Extra Light</vt:lpstr>
      <vt:lpstr>Arial</vt:lpstr>
      <vt:lpstr>Arial Nova</vt:lpstr>
      <vt:lpstr>Calibri</vt:lpstr>
      <vt:lpstr>Calibri Light</vt:lpstr>
      <vt:lpstr>Inter-Regular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Eider Arantes de Oliveira</dc:creator>
  <cp:lastModifiedBy>Eider Arantes de Oliveira</cp:lastModifiedBy>
  <cp:revision>2</cp:revision>
  <dcterms:created xsi:type="dcterms:W3CDTF">2026-01-12T10:55:38Z</dcterms:created>
  <dcterms:modified xsi:type="dcterms:W3CDTF">2026-01-14T18:11:12Z</dcterms:modified>
</cp:coreProperties>
</file>